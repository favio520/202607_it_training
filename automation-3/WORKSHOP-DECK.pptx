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0:00-0:05. Framing only — do not open any code yet.
Say: 'Everyone here has at some point emailed a file, or dragged something into a web portal, to get it in front of someone else. Today we replace that with something that happens by itself.'
Set expectations out loud:
- You need a GitHub account and a browser. That is it.
- You do NOT need an Azure account, a credit card, or anything installed.
- If you have never written code, you will still finish. The part you edit is two words.
Ask for a show of hands: who has used GitHub before? Who has set up an automated deploy before? This tells you how much time to spend on slide 5 and how much hand-holding Part 1 will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still inside the 0:00-0:05 framing block. Keep this to about 60 seconds.
The third item is the one to emphasise for the non-technical people in the room. They may never write a pipeline themselves, but they will sit in meetings where someone says 'it is stuck in the deploy' — and after today that sentence means something concrete.
Reassure anyone looking nervous: the hands-on parts are copy, paste, and change one word. Nobody writes code from scratch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30-45 seconds. Do not belabour it — the demo makes the argument better than the slide does.
The honest framing: doing it by hand is not hard. It is *unreliable*. The failure mode is not 'I cannot do this', it is 'I did it slightly differently on Friday and now the site is broken and nobody knows what changed'.
If someone in the room maintains a site manually, ask them how they know what is currently deployed. The pause before the answer is the whole point of this slide.
Then move straight into the live demo. Do not tour the file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0:05-0:12. This is the single most important seven minutes of the session.
DEMO SCRIPT — rehearse this beforehand:
1. Show the folder site-sample in the repo. Three files. Say 'this is just a folder'.
2. Open index.html, click the pencil, change the name to your own. Commit.
3. Switch immediately to the Actions tab. Let the room watch the run appear and go yellow.
4. Say nothing for a few seconds. Let it turn green on its own. The silence works.
5. Open the run, scroll to the summary, click the live URL.
6. The page loads with your new name on it. Stop talking. Let it land.
Resist explaining while it runs. You will explain on the next slide, and the explanation lands far better once they have seen the outcome.
RISK: if the network is slow this feels long. Have a completed run open in a second tab as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0:12, about 2 minutes. First slide of the 'tour the workflow' block.
Step 3 is the one that surprises people: a real computer is created on demand, does the job, and is destroyed. Nobody maintains it. That is why the result is identical every time — there is no machine accumulating quirks.
For the non-technical half of the room, this slide is the takeaway. If they remember only 'a change triggers a checklist that a fresh machine runs', they have got their money's worth.
Point at step 2 and flag it: 'checks whether it matches something I was told to watch for'. That clause becomes Experiment B later. Plant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3 minutes. Have the actual file open on the projector alongside this slide, and scroll to each section as you name it.
Say the WHEN / WHAT / HOW framing out loud — it is the scaffolding for everything that follows.
Reassure them about jobs: it looks intimidating and they will not touch it. Point out that it is heavily commented and that every step has a plain-English name, so they can follow along in the log even without reading the code.
Mention the file extension .yml is 'YAML' and that indentation is meaningful — spaces matter, tabs break it. Since they will edit inside existing lines, they are unlikely to hit this, but say it so it is not a mystery.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 minutes. This is the concept the next 20 minutes of hands-on depends on. Do not rush it, and do not move on until the room looks settled.
Draw it if you have a whiteboard: a door with a guard (paths) and, past the door, a worker holding a note that says which folder to fetch (SITE_FOLDER). Same word written in two places, doing two entirely different jobs.
Say explicitly: 'These two values must match each other. Nothing enforces that for you — it is the one bit of bookkeeping this design asks of you.'
Set expectations about the failure: the error message lists every folder that DOES exist, so they can compare spelling. Tell them that now, so when it happens they read the message instead of putting a hand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3 minutes, closing the tour block. Leave this slide up while you switch to the real file.
Do this live on the projector so they see the pencil icon and the Commit button. Editing a file in the GitHub web UI is unfamiliar to most people and worth demonstrating rather than describing.
Call out the two asymmetries, because they cause real errors:
- Edit 1 keeps the single quotes and the /** wildcard.
- Edit 2 has neither.
People pattern-match and add /** to both. Say it before they do it.
Also warn about case: site-Jason and site-jason are different folders as far as this is concerned.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2 minutes, last slide before hands-on.
The argument for secrets that actually lands is not 'hackers'. It is rotation: when the credential changes, you update one box in settings and forty workflows keep working. Nobody edits code, nobody redeploys. Lead with that.
Second point, aimed at the non-technical half: the workflow file is visible to everyone with access to the repository. The password is not. Those are deliberately different levels of visibility for two things sitting side by side in the same project.
Mention in passing that today's setup uses a stored password because it is the simplest thing that works in an hour, and that real systems increasingly use a handshake with no stored password at all. One sentence — the detail is on the final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0:22. Say the three ground rules before they start typing.
1. Everything happens in YOUR fork, on main. You cannot break anyone else's copy.
2. Your folder name is site- plus your GitHub username, and it must be unique — everyone uploads into the same storage account, so the folder name is the only thing keeping your page separate from your neighbour's. The workflow refuses to deploy the default name.
3. If you are stuck for more than two minutes, put a hand up. Do not quietly fall behind — the later parts build on this one.
Then circulate. Do not sit at the front. The thing you will fix over and over: people not realising that typing a slash in the filename box creates a folder.
Pair up anyone who is clearly struggling with someone who is done. It is faster than you doing it, and the explaining helps the fast one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SLIDE — but run this one in LOCKSTEP, not self-serve. Do each step on the projector, then wait for the room. There is no learning in this part, so a straggler here just falls behind for the rest of the session.
Hand out the connection string at step 3. Show it on screen or on paper — not Slack, not email. Those keep a copy long after today and spread it beyond this room.
Say the warning out loud rather than trusting the slide. On a public fork, a credential committed to a file is world-readable and stays in the Git history after deletion. GitHub will most likely block such a push, but treat that as a backstop, not the plan.
Step 2 is the one that silently breaks people: with Actions disabled, pushing does nothing at all and there is no error to explain why. Check a few screens before moving on — the symptom is identical to experiment B, so it causes real confusion later.
Step 3 failing is usually a misspelled secret name. It must match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SLIDE — leave this on the projector for the full ten minutes.
The slash-creates-a-folder trick in step 2 is the single biggest source of confusion in this workshop. Demonstrate it once on the projector before you set them loose, then leave this slide up.
Watch for:
- Copying the rendered page instead of the raw file. They need the Raw or edit view, not the preview.
- Only creating index.html and stopping. The page will load but the build number will say 'could not load data.json' — which is a nice teachable moment if it happens.
Call the halfway point out loud at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SLIDE — leave up for the full ten minutes.
Before they start, say the asymmetry out loud one more time: edit 1 has quotes and /**, edit 2 has neither. Roughly a third of any room adds /** to SITE_FOLDER.
Committing this file will itself trigger a run, because the workflow watches its own file. So most people get their first run here without doing anything else — which is a pleasant surprise and a good moment to point at the Actions tab.
If a run fails at this point, that is fine and expected. Resist fixing it for them. Walk them to the error message and let them read it — that skill is worth more than a working deploy.
Anyone who finishes early: send them to help a neighbour, or have them read the jobs: section and come back with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0:42, about 8 minutes.
Walk them through reading a run, because the Actions interface is dense and unfamiliar:
- The list on the left is one entry per run. Yellow dot = in progress, green tick = done, red = failed.
- Click a run, then click the job name to expand the steps.
- Each step can be expanded to show its log output.
- The summary at the TOP of the run page is where the live link is. This is the bit people miss.
Ask two or three people to read out their live URL and put them on the projector. Seeing a colleague's name appear on a real web address is the emotional high point of the session — spend a minute on it rather than rushing to the experiments.
Anyone red at this point: almost always the two values not matching. The error names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SLIDE — leave up for the full eight minutes.
'Red is normal, everyone gets one' is worth saying out loud. In a mixed-ability room, a red X reads as personal failure to people who do not work with build tools daily. Normalising it early keeps them engaged instead of embarrassed.
The step named 'Work out which folder to deploy' is the one that catches the mismatch, so if someone is red, tell them to expand that step first rather than scrolling the whole log.
Collect a few live URLs and put them on the projector. Ask the room to open someone else's — it makes the point that this is genuinely public, not just working on their own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0:50, about 15 minutes for all three.
Set them up as experiments with predictions, not instructions. Before each one, ask the room 'what do you think will happen?' — the prediction is what makes the result stick.
Be firm about doing all three. People stop after A because it is the satisfying one, and B is the one that teaches the actual lesson.
Announce timings: about 4 minutes for A, 4 for B, 5 for C, then debrief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SLIDE — leave up for the full fifteen minutes.
Experiment B is designed to look like a failure. Warn them in advance: 'you are about to do something and nothing will happen, and that is the correct result'. Otherwise several people will spend five minutes debugging a system that is working perfectly.
Experiment C, second half — typing site-sample into the box — is the one that shows a manual run can override what the file says. Worth pointing at when you debrief.
Circulate and ask people what they predicted versus what happened. That conversation is where the learning actually occurs; the slides are just scaffolding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 part of the wrap. About 3 minutes.
Debrief B properly — it is the least intuitive result and the most transferable lesson.
Ask the room: 'how would you have debugged that if you did not know about the filter?' The honest answer is you would stare at a working system convinced it was broken. That experience is extremely common in real work, and now they have a first thing to check: was this supposed to trigger?
For the non-technical people, the general lesson is worth naming: automation that runs on everything is usually worse than automation that runs on the right things. Scope is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You may not present it at all — leave it up during the hands-on blocks if the room is struggling, or skip past it if everything is going smoothly.
The habit worth teaching, if you get a moment: click the red step, read the message, and only then ask for help. Most people's instinct is to ask first, and the error messages in this workflow were written specifically to make that unnecessary.
The fifth row exists so nobody spends ten minutes on something that is genuinely your problem, not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1:08, about 3 minutes. This is your actual conclusion — the next slide is optional depth.
Number 1 is the one to land. If they take away nothing else, 'trigger plus checklist' lets them read any pipeline they meet for the rest of their career, in any tool.
Number 4 is the one experienced people nod at, because they have all been burned by a deploy system with no manual override during an incident.
Do not read the slide aloud. Pick the two that matter most for this specific room and talk about those; let them read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about 3 minutes. Include it if the room skews technical or if you are running to time; cut it if people are flagging.
The mechanism is called OIDC, or workload identity federation. You do not need to teach it — the point is only that a stored credential is not the end state, so nobody leaves thinking a password in a settings box is best practice.
Be straight about why we did not use it today: it needs an app registration and a role assignment per person, which would have eaten the whole session for no extra learning about pipelines.
The last line is the reassuring part: everything they learned today survives the upgrade. Only the authentication step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1:11 to the end. Leave this up for questions.
Land the closing line properly: everything more elaborate than today is a variation on trigger plus checklist plus credential. They now have the shape of the thing, and the sophistication is detail.
Housekeeping before they leave:
- The repository stays up for a week; the Azure storage gets deleted, so their live URLs will stop working. Say this or someone will report it as a bug on Monday.
- Tell them where the handout lives so they can redo it later.
If questions dry up, a good prompt: 'what in your own work is currently done by hand every time?' That usually produces the most valuable conversation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47"/>
        </a:solidFill>
      </p:bgPr>
    </p:bg>
    <p:spTree>
      <p:nvGrpSpPr>
        <p:cNvPr id="1" name=""/>
        <p:cNvGrpSpPr/>
        <p:nvPr/>
      </p:nvGrpSpPr>
      <p:grpSpPr>
        <a:xfrm>
          <a:off x="0" y="0"/>
          <a:ext cx="0" cy="0"/>
          <a:chOff x="0" y="0"/>
          <a:chExt cx="0" cy="0"/>
        </a:xfrm>
      </p:grpSpPr>
      <p:sp>
        <p:nvSpPr>
          <p:cNvPr id="2" name="Text 0"/>
          <p:cNvSpPr/>
          <p:nvPr/>
        </p:nvSpPr>
        <p:spPr>
          <a:xfrm>
            <a:off x="566928" y="1371600"/>
            <a:ext cx="11057839" cy="320040"/>
          </a:xfrm>
          <a:prstGeom prst="rect">
            <a:avLst/>
          </a:prstGeom>
          <a:noFill/>
          <a:ln/>
        </p:spPr>
        <p:txBody>
          <a:bodyPr wrap="square" lIns="0" tIns="0" rIns="0" bIns="0" rtlCol="0" anchor="ctr"/>
          <a:lstStyle/>
          <a:p>
            <a:pPr indent="0" marL="0">
              <a:buNone/>
            </a:pPr>
            <a:r>
              <a:rPr lang="en-US" sz="1300" b="1" spc="250" kern="0" dirty="0">
                <a:solidFill>
                  <a:srgbClr val="FFB627"/>
                </a:solidFill>
                <a:latin typeface="Calibri" pitchFamily="34" charset="0"/>
                <a:ea typeface="Calibri" pitchFamily="34" charset="-122"/>
                <a:cs typeface="Calibri" pitchFamily="34" charset="-120"/>
              </a:rPr>
              <a:t>HANDS-ON WORKSHOP  ·  75 MINUTES</a:t>
            </a:r>
            <a:endParaRPr lang="en-US" sz="1300" dirty="0"/>
          </a:p>
        </p:txBody>
      </p:sp>
      <p:sp>
        <p:nvSpPr>
          <p:cNvPr id="3" name="Text 1"/>
          <p:cNvSpPr/>
          <p:nvPr/>
        </p:nvSpPr>
        <p:spPr>
          <a:xfrm>
            <a:off x="566928" y="1828800"/>
            <a:ext cx="7519331" cy="1920240"/>
          </a:xfrm>
          <a:prstGeom prst="rect">
            <a:avLst/>
          </a:prstGeom>
          <a:noFill/>
          <a:ln/>
        </p:spPr>
        <p:txBody>
          <a:bodyPr wrap="square" lIns="0" tIns="0" rIns="0" bIns="0" rtlCol="0" anchor="ctr"/>
          <a:lstStyle/>
          <a:p>
            <a:pPr indent="0" marL="0">
              <a:lnSpc>
                <a:spcPts val="5600"/>
              </a:lnSpc>
              <a:buNone/>
            </a:pPr>
            <a:r>
              <a:rPr lang="en-US" sz="5200" b="1" dirty="0">
                <a:solidFill>
                  <a:srgbClr val="FFFFFF"/>
                </a:solidFill>
                <a:latin typeface="Cambria" pitchFamily="34" charset="0"/>
                <a:ea typeface="Cambria" pitchFamily="34" charset="-122"/>
                <a:cs typeface="Cambria" pitchFamily="34" charset="-120"/>
              </a:rPr>
              <a:t>From a folder</a:t>
            </a:r>
            <a:endParaRPr lang="en-US" sz="5200" dirty="0"/>
          </a:p>
          <a:p>
            <a:pPr indent="0" marL="0">
              <a:lnSpc>
                <a:spcPts val="5600"/>
              </a:lnSpc>
              <a:buNone/>
            </a:pPr>
            <a:r>
              <a:rPr lang="en-US" sz="5200" b="1" dirty="0">
                <a:solidFill>
                  <a:srgbClr val="FFFFFF"/>
                </a:solidFill>
                <a:latin typeface="Cambria" pitchFamily="34" charset="0"/>
                <a:ea typeface="Cambria" pitchFamily="34" charset="-122"/>
                <a:cs typeface="Cambria" pitchFamily="34" charset="-120"/>
              </a:rPr>
              <a:t>to a live website</a:t>
            </a:r>
            <a:endParaRPr lang="en-US" sz="5200" dirty="0"/>
          </a:p>
        </p:txBody>
      </p:sp>
      <p:sp>
        <p:nvSpPr>
          <p:cNvPr id="4" name="Text 2"/>
          <p:cNvSpPr/>
          <p:nvPr/>
        </p:nvSpPr>
        <p:spPr>
          <a:xfrm>
            <a:off x="566928" y="3977640"/>
            <a:ext cx="6192390" cy="822960"/>
          </a:xfrm>
          <a:prstGeom prst="rect">
            <a:avLst/>
          </a:prstGeom>
          <a:noFill/>
          <a:ln/>
        </p:spPr>
        <p:txBody>
          <a:bodyPr wrap="square" lIns="0" tIns="0" rIns="0" bIns="0" rtlCol="0" anchor="ctr"/>
          <a:lstStyle/>
          <a:p>
            <a:pPr indent="0" marL="0">
              <a:lnSpc>
                <a:spcPts val="2600"/>
              </a:lnSpc>
              <a:buNone/>
            </a:pPr>
            <a:r>
              <a:rPr lang="en-US" sz="1700" dirty="0">
                <a:solidFill>
                  <a:srgbClr val="C3D0E4"/>
                </a:solidFill>
                <a:latin typeface="Calibri" pitchFamily="34" charset="0"/>
                <a:ea typeface="Calibri" pitchFamily="34" charset="-122"/>
                <a:cs typeface="Calibri" pitchFamily="34" charset="-120"/>
              </a:rPr>
              <a:t>You will change two lines in a file, press save, and watch a robot put your work on the internet.</a:t>
            </a:r>
            <a:endParaRPr lang="en-US" sz="1700" dirty="0"/>
          </a:p>
        </p:txBody>
      </p:sp>
      <p:sp>
        <p:nvSpPr>
          <p:cNvPr id="5" name="Shape 3"/>
          <p:cNvSpPr/>
          <p:nvPr/>
        </p:nvSpPr>
        <p:spPr>
          <a:xfrm>
            <a:off x="7589520" y="1783080"/>
            <a:ext cx="4023360" cy="932688"/>
          </a:xfrm>
          <a:prstGeom prst="roundRect">
            <a:avLst>
              <a:gd name="adj" fmla="val 9804"/>
            </a:avLst>
          </a:prstGeom>
          <a:solidFill>
            <a:srgbClr val="27325A"/>
          </a:solidFill>
          <a:ln/>
        </p:spPr>
      </p:sp>
      <p:sp>
        <p:nvSpPr>
          <p:cNvPr id="6" name="Shape 4"/>
          <p:cNvSpPr/>
          <p:nvPr/>
        </p:nvSpPr>
        <p:spPr>
          <a:xfrm>
            <a:off x="7845552" y="2020824"/>
            <a:ext cx="475488" cy="475488"/>
          </a:xfrm>
          <a:prstGeom prst="ellipse">
            <a:avLst/>
          </a:prstGeom>
          <a:solidFill>
            <a:srgbClr val="FFB627"/>
          </a:solidFill>
          <a:ln/>
        </p:spPr>
      </p:sp>
      <p:sp>
        <p:nvSpPr>
          <p:cNvPr id="7" name="Text 5"/>
          <p:cNvSpPr/>
          <p:nvPr/>
        </p:nvSpPr>
        <p:spPr>
          <a:xfrm>
            <a:off x="7845552" y="2020824"/>
            <a:ext cx="475488" cy="475488"/>
          </a:xfrm>
          <a:prstGeom prst="rect">
            <a:avLst/>
          </a:prstGeom>
          <a:noFill/>
          <a:ln/>
        </p:spPr>
        <p:txBody>
          <a:bodyPr wrap="square" lIns="0" tIns="0" rIns="0" bIns="0" rtlCol="0" anchor="ctr"/>
          <a:lstStyle/>
          <a:p>
            <a:pPr algn="ctr" indent="0" marL="0">
              <a:buNone/>
            </a:pPr>
            <a:r>
              <a:rPr lang="en-US" sz="1600" b="1" dirty="0">
                <a:solidFill>
                  <a:srgbClr val="1B2547"/>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485632" y="1929384"/>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Your folder</a:t>
            </a:r>
            <a:endParaRPr lang="en-US" sz="1500" dirty="0"/>
          </a:p>
        </p:txBody>
      </p:sp>
      <p:sp>
        <p:nvSpPr>
          <p:cNvPr id="9" name="Text 7"/>
          <p:cNvSpPr/>
          <p:nvPr/>
        </p:nvSpPr>
        <p:spPr>
          <a:xfrm>
            <a:off x="8485632" y="2258568"/>
            <a:ext cx="2926080" cy="292608"/>
          </a:xfrm>
          <a:prstGeom prst="rect">
            <a:avLst/>
          </a:prstGeom>
          <a:noFill/>
          <a:ln/>
        </p:spPr>
        <p:txBody>
          <a:bodyPr wrap="square" lIns="0" tIns="0" rIns="0" bIns="0" rtlCol="0" anchor="ctr"/>
          <a:lstStyle/>
          <a:p>
            <a:pPr indent="0" marL="0">
              <a:buNone/>
            </a:pPr>
            <a:r>
              <a:rPr lang="en-US" sz="1200" dirty="0">
                <a:solidFill>
                  <a:srgbClr val="9FB0CE"/>
                </a:solidFill>
                <a:latin typeface="Calibri" pitchFamily="34" charset="0"/>
                <a:ea typeface="Calibri" pitchFamily="34" charset="-122"/>
                <a:cs typeface="Calibri" pitchFamily="34" charset="-120"/>
              </a:rPr>
              <a:t>on your screen</a:t>
            </a:r>
            <a:endParaRPr lang="en-US" sz="1200" dirty="0"/>
          </a:p>
        </p:txBody>
      </p:sp>
      <p:sp>
        <p:nvSpPr>
          <p:cNvPr id="10" name="Shape 8"/>
          <p:cNvSpPr/>
          <p:nvPr/>
        </p:nvSpPr>
        <p:spPr>
          <a:xfrm>
            <a:off x="7589520" y="2953512"/>
            <a:ext cx="4023360" cy="932688"/>
          </a:xfrm>
          <a:prstGeom prst="roundRect">
            <a:avLst>
              <a:gd name="adj" fmla="val 9804"/>
            </a:avLst>
          </a:prstGeom>
          <a:solidFill>
            <a:srgbClr val="27325A"/>
          </a:solidFill>
          <a:ln/>
        </p:spPr>
      </p:sp>
      <p:sp>
        <p:nvSpPr>
          <p:cNvPr id="11" name="Shape 9"/>
          <p:cNvSpPr/>
          <p:nvPr/>
        </p:nvSpPr>
        <p:spPr>
          <a:xfrm>
            <a:off x="7845552" y="3191256"/>
            <a:ext cx="475488" cy="475488"/>
          </a:xfrm>
          <a:prstGeom prst="ellipse">
            <a:avLst/>
          </a:prstGeom>
          <a:solidFill>
            <a:srgbClr val="FFB627"/>
          </a:solidFill>
          <a:ln/>
        </p:spPr>
      </p:sp>
      <p:sp>
        <p:nvSpPr>
          <p:cNvPr id="12" name="Text 10"/>
          <p:cNvSpPr/>
          <p:nvPr/>
        </p:nvSpPr>
        <p:spPr>
          <a:xfrm>
            <a:off x="7845552" y="3191256"/>
            <a:ext cx="475488" cy="475488"/>
          </a:xfrm>
          <a:prstGeom prst="rect">
            <a:avLst/>
          </a:prstGeom>
          <a:noFill/>
          <a:ln/>
        </p:spPr>
        <p:txBody>
          <a:bodyPr wrap="square" lIns="0" tIns="0" rIns="0" bIns="0" rtlCol="0" anchor="ctr"/>
          <a:lstStyle/>
          <a:p>
            <a:pPr algn="ctr" indent="0" marL="0">
              <a:buNone/>
            </a:pPr>
            <a:r>
              <a:rPr lang="en-US" sz="1600" b="1" dirty="0">
                <a:solidFill>
                  <a:srgbClr val="1B2547"/>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8485632" y="3099816"/>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 Actions</a:t>
            </a:r>
            <a:endParaRPr lang="en-US" sz="1500" dirty="0"/>
          </a:p>
        </p:txBody>
      </p:sp>
      <p:sp>
        <p:nvSpPr>
          <p:cNvPr id="14" name="Text 12"/>
          <p:cNvSpPr/>
          <p:nvPr/>
        </p:nvSpPr>
        <p:spPr>
          <a:xfrm>
            <a:off x="8485632" y="3429000"/>
            <a:ext cx="2926080" cy="292608"/>
          </a:xfrm>
          <a:prstGeom prst="rect">
            <a:avLst/>
          </a:prstGeom>
          <a:noFill/>
          <a:ln/>
        </p:spPr>
        <p:txBody>
          <a:bodyPr wrap="square" lIns="0" tIns="0" rIns="0" bIns="0" rtlCol="0" anchor="ctr"/>
          <a:lstStyle/>
          <a:p>
            <a:pPr indent="0" marL="0">
              <a:buNone/>
            </a:pPr>
            <a:r>
              <a:rPr lang="en-US" sz="1200" dirty="0">
                <a:solidFill>
                  <a:srgbClr val="9FB0CE"/>
                </a:solidFill>
                <a:latin typeface="Calibri" pitchFamily="34" charset="0"/>
                <a:ea typeface="Calibri" pitchFamily="34" charset="-122"/>
                <a:cs typeface="Calibri" pitchFamily="34" charset="-120"/>
              </a:rPr>
              <a:t>notices and runs</a:t>
            </a:r>
            <a:endParaRPr lang="en-US" sz="1200" dirty="0"/>
          </a:p>
        </p:txBody>
      </p:sp>
      <p:sp>
        <p:nvSpPr>
          <p:cNvPr id="15" name="Shape 13"/>
          <p:cNvSpPr/>
          <p:nvPr/>
        </p:nvSpPr>
        <p:spPr>
          <a:xfrm>
            <a:off x="7589520" y="4123944"/>
            <a:ext cx="4023360" cy="932688"/>
          </a:xfrm>
          <a:prstGeom prst="roundRect">
            <a:avLst>
              <a:gd name="adj" fmla="val 9804"/>
            </a:avLst>
          </a:prstGeom>
          <a:solidFill>
            <a:srgbClr val="27325A"/>
          </a:solidFill>
          <a:ln/>
        </p:spPr>
      </p:sp>
      <p:sp>
        <p:nvSpPr>
          <p:cNvPr id="16" name="Shape 14"/>
          <p:cNvSpPr/>
          <p:nvPr/>
        </p:nvSpPr>
        <p:spPr>
          <a:xfrm>
            <a:off x="7845552" y="4361688"/>
            <a:ext cx="475488" cy="475488"/>
          </a:xfrm>
          <a:prstGeom prst="ellipse">
            <a:avLst/>
          </a:prstGeom>
          <a:solidFill>
            <a:srgbClr val="FFB627"/>
          </a:solidFill>
          <a:ln/>
        </p:spPr>
      </p:sp>
      <p:sp>
        <p:nvSpPr>
          <p:cNvPr id="17" name="Text 15"/>
          <p:cNvSpPr/>
          <p:nvPr/>
        </p:nvSpPr>
        <p:spPr>
          <a:xfrm>
            <a:off x="7845552" y="4361688"/>
            <a:ext cx="475488" cy="475488"/>
          </a:xfrm>
          <a:prstGeom prst="rect">
            <a:avLst/>
          </a:prstGeom>
          <a:noFill/>
          <a:ln/>
        </p:spPr>
        <p:txBody>
          <a:bodyPr wrap="square" lIns="0" tIns="0" rIns="0" bIns="0" rtlCol="0" anchor="ctr"/>
          <a:lstStyle/>
          <a:p>
            <a:pPr algn="ctr" indent="0" marL="0">
              <a:buNone/>
            </a:pPr>
            <a:r>
              <a:rPr lang="en-US" sz="1600" b="1" dirty="0">
                <a:solidFill>
                  <a:srgbClr val="1B2547"/>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485632" y="4270248"/>
            <a:ext cx="2926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Azure Storage</a:t>
            </a:r>
            <a:endParaRPr lang="en-US" sz="1500" dirty="0"/>
          </a:p>
        </p:txBody>
      </p:sp>
      <p:sp>
        <p:nvSpPr>
          <p:cNvPr id="19" name="Text 17"/>
          <p:cNvSpPr/>
          <p:nvPr/>
        </p:nvSpPr>
        <p:spPr>
          <a:xfrm>
            <a:off x="8485632" y="4599432"/>
            <a:ext cx="2926080" cy="292608"/>
          </a:xfrm>
          <a:prstGeom prst="rect">
            <a:avLst/>
          </a:prstGeom>
          <a:noFill/>
          <a:ln/>
        </p:spPr>
        <p:txBody>
          <a:bodyPr wrap="square" lIns="0" tIns="0" rIns="0" bIns="0" rtlCol="0" anchor="ctr"/>
          <a:lstStyle/>
          <a:p>
            <a:pPr indent="0" marL="0">
              <a:buNone/>
            </a:pPr>
            <a:r>
              <a:rPr lang="en-US" sz="1200" dirty="0">
                <a:solidFill>
                  <a:srgbClr val="9FB0CE"/>
                </a:solidFill>
                <a:latin typeface="Calibri" pitchFamily="34" charset="0"/>
                <a:ea typeface="Calibri" pitchFamily="34" charset="-122"/>
                <a:cs typeface="Calibri" pitchFamily="34" charset="-120"/>
              </a:rPr>
              <a:t>live on a URL</a:t>
            </a:r>
            <a:endParaRPr lang="en-US" sz="1200" dirty="0"/>
          </a:p>
        </p:txBody>
      </p:sp>
      <p:sp>
        <p:nvSpPr>
          <p:cNvPr id="20" name="Text 18"/>
          <p:cNvSpPr/>
          <p:nvPr/>
        </p:nvSpPr>
        <p:spPr>
          <a:xfrm>
            <a:off x="566928" y="4983480"/>
            <a:ext cx="3657600" cy="320040"/>
          </a:xfrm>
          <a:prstGeom prst="rect">
            <a:avLst/>
          </a:prstGeom>
          <a:noFill/>
          <a:ln/>
        </p:spPr>
        <p:txBody>
          <a:bodyPr wrap="square" lIns="0" tIns="0" rIns="0" bIns="0" rtlCol="0" anchor="ctr"/>
          <a:lstStyle/>
          <a:p>
            <a:pPr indent="0" marL="0">
              <a:buNone/>
            </a:pPr>
            <a:r>
              <a:rPr lang="en-US" sz="1300" b="1" dirty="0">
                <a:solidFill>
                  <a:srgbClr val="8290B8"/>
                </a:solidFill>
                <a:latin typeface="Calibri" pitchFamily="34" charset="0"/>
                <a:ea typeface="Calibri" pitchFamily="34" charset="-122"/>
                <a:cs typeface="Calibri" pitchFamily="34" charset="-120"/>
              </a:rPr>
              <a:t>Amaxst</a:t>
            </a:r>
            <a:endParaRPr lang="en-US" sz="1300" dirty="0"/>
          </a:p>
        </p:txBody>
      </p:sp>
      <p:sp>
        <p:nvSpPr>
          <p:cNvPr id="21" name="Text 19"/>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8290B8"/>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FFB627"/>
                </a:solidFill>
                <a:latin typeface="Calibri" pitchFamily="34" charset="0"/>
                <a:ea typeface="Calibri" pitchFamily="34" charset="-122"/>
                <a:cs typeface="Calibri" pitchFamily="34" charset="-120"/>
              </a:rPr>
              <a:t>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What you walk out with</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By the end of the session, on your own screen.</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2</a:t>
            </a:r>
            <a:endParaRPr lang="en-US" sz="1000" dirty="0"/>
          </a:p>
        </p:txBody>
      </p:sp>
      <p:sp>
        <p:nvSpPr>
          <p:cNvPr id="5" name="Shape 3"/>
          <p:cNvSpPr/>
          <p:nvPr/>
        </p:nvSpPr>
        <p:spPr>
          <a:xfrm>
            <a:off x="566928" y="1691640"/>
            <a:ext cx="3538728" cy="2926080"/>
          </a:xfrm>
          <a:prstGeom prst="roundRect">
            <a:avLst>
              <a:gd name="adj" fmla="val 2813"/>
            </a:avLst>
          </a:prstGeom>
          <a:solidFill>
            <a:srgbClr val="F6F9FB"/>
          </a:solidFill>
          <a:ln/>
        </p:spPr>
      </p:sp>
      <p:sp>
        <p:nvSpPr>
          <p:cNvPr id="6" name="Shape 4"/>
          <p:cNvSpPr/>
          <p:nvPr/>
        </p:nvSpPr>
        <p:spPr>
          <a:xfrm>
            <a:off x="877824" y="2011680"/>
            <a:ext cx="566928" cy="566928"/>
          </a:xfrm>
          <a:prstGeom prst="ellipse">
            <a:avLst/>
          </a:prstGeom>
          <a:solidFill>
            <a:srgbClr val="065A82"/>
          </a:solidFill>
          <a:ln/>
        </p:spPr>
      </p:sp>
      <p:sp>
        <p:nvSpPr>
          <p:cNvPr id="7" name="Text 5"/>
          <p:cNvSpPr/>
          <p:nvPr/>
        </p:nvSpPr>
        <p:spPr>
          <a:xfrm>
            <a:off x="877824" y="20116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877824" y="2788920"/>
            <a:ext cx="2916936" cy="457200"/>
          </a:xfrm>
          <a:prstGeom prst="rect">
            <a:avLst/>
          </a:prstGeom>
          <a:noFill/>
          <a:ln/>
        </p:spPr>
        <p:txBody>
          <a:bodyPr wrap="square" lIns="0" tIns="0" rIns="0" bIns="0" rtlCol="0" anchor="ctr"/>
          <a:lstStyle/>
          <a:p>
            <a:pPr indent="0" marL="0">
              <a:buNone/>
            </a:pPr>
            <a:r>
              <a:rPr lang="en-US" sz="2100" b="1" dirty="0">
                <a:solidFill>
                  <a:srgbClr val="18222E"/>
                </a:solidFill>
                <a:latin typeface="Cambria" pitchFamily="34" charset="0"/>
                <a:ea typeface="Cambria" pitchFamily="34" charset="-122"/>
                <a:cs typeface="Cambria" pitchFamily="34" charset="-120"/>
              </a:rPr>
              <a:t>A live URL</a:t>
            </a:r>
            <a:endParaRPr lang="en-US" sz="2100" dirty="0"/>
          </a:p>
        </p:txBody>
      </p:sp>
      <p:sp>
        <p:nvSpPr>
          <p:cNvPr id="9" name="Text 7"/>
          <p:cNvSpPr/>
          <p:nvPr/>
        </p:nvSpPr>
        <p:spPr>
          <a:xfrm>
            <a:off x="877824" y="3291840"/>
            <a:ext cx="2916936" cy="1371600"/>
          </a:xfrm>
          <a:prstGeom prst="rect">
            <a:avLst/>
          </a:prstGeom>
          <a:noFill/>
          <a:ln/>
        </p:spPr>
        <p:txBody>
          <a:bodyPr wrap="square" lIns="0" tIns="0" rIns="0" bIns="0" rtlCol="0" anchor="t"/>
          <a:lstStyle/>
          <a:p>
            <a:pPr indent="0" marL="0">
              <a:lnSpc>
                <a:spcPts val="2100"/>
              </a:lnSpc>
              <a:buNone/>
            </a:pPr>
            <a:r>
              <a:rPr lang="en-US" sz="1450" dirty="0">
                <a:solidFill>
                  <a:srgbClr val="5D6B7A"/>
                </a:solidFill>
                <a:latin typeface="Calibri" pitchFamily="34" charset="0"/>
                <a:ea typeface="Calibri" pitchFamily="34" charset="-122"/>
                <a:cs typeface="Calibri" pitchFamily="34" charset="-120"/>
              </a:rPr>
              <a:t>A web address anyone can open, serving files you created.</a:t>
            </a:r>
            <a:endParaRPr lang="en-US" sz="1450" dirty="0"/>
          </a:p>
        </p:txBody>
      </p:sp>
      <p:sp>
        <p:nvSpPr>
          <p:cNvPr id="10" name="Shape 8"/>
          <p:cNvSpPr/>
          <p:nvPr/>
        </p:nvSpPr>
        <p:spPr>
          <a:xfrm>
            <a:off x="4343400" y="1691640"/>
            <a:ext cx="3538728" cy="2926080"/>
          </a:xfrm>
          <a:prstGeom prst="roundRect">
            <a:avLst>
              <a:gd name="adj" fmla="val 2813"/>
            </a:avLst>
          </a:prstGeom>
          <a:solidFill>
            <a:srgbClr val="F6F9FB"/>
          </a:solidFill>
          <a:ln/>
        </p:spPr>
      </p:sp>
      <p:sp>
        <p:nvSpPr>
          <p:cNvPr id="11" name="Shape 9"/>
          <p:cNvSpPr/>
          <p:nvPr/>
        </p:nvSpPr>
        <p:spPr>
          <a:xfrm>
            <a:off x="4654296" y="2011680"/>
            <a:ext cx="566928" cy="566928"/>
          </a:xfrm>
          <a:prstGeom prst="ellipse">
            <a:avLst/>
          </a:prstGeom>
          <a:solidFill>
            <a:srgbClr val="1C7293"/>
          </a:solidFill>
          <a:ln/>
        </p:spPr>
      </p:sp>
      <p:sp>
        <p:nvSpPr>
          <p:cNvPr id="12" name="Text 10"/>
          <p:cNvSpPr/>
          <p:nvPr/>
        </p:nvSpPr>
        <p:spPr>
          <a:xfrm>
            <a:off x="4654296" y="20116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4654296" y="2788920"/>
            <a:ext cx="2916936" cy="457200"/>
          </a:xfrm>
          <a:prstGeom prst="rect">
            <a:avLst/>
          </a:prstGeom>
          <a:noFill/>
          <a:ln/>
        </p:spPr>
        <p:txBody>
          <a:bodyPr wrap="square" lIns="0" tIns="0" rIns="0" bIns="0" rtlCol="0" anchor="ctr"/>
          <a:lstStyle/>
          <a:p>
            <a:pPr indent="0" marL="0">
              <a:buNone/>
            </a:pPr>
            <a:r>
              <a:rPr lang="en-US" sz="2100" b="1" dirty="0">
                <a:solidFill>
                  <a:srgbClr val="18222E"/>
                </a:solidFill>
                <a:latin typeface="Cambria" pitchFamily="34" charset="0"/>
                <a:ea typeface="Cambria" pitchFamily="34" charset="-122"/>
                <a:cs typeface="Cambria" pitchFamily="34" charset="-120"/>
              </a:rPr>
              <a:t>A working pipeline</a:t>
            </a:r>
            <a:endParaRPr lang="en-US" sz="2100" dirty="0"/>
          </a:p>
        </p:txBody>
      </p:sp>
      <p:sp>
        <p:nvSpPr>
          <p:cNvPr id="14" name="Text 12"/>
          <p:cNvSpPr/>
          <p:nvPr/>
        </p:nvSpPr>
        <p:spPr>
          <a:xfrm>
            <a:off x="4654296" y="3291840"/>
            <a:ext cx="2916936" cy="1371600"/>
          </a:xfrm>
          <a:prstGeom prst="rect">
            <a:avLst/>
          </a:prstGeom>
          <a:noFill/>
          <a:ln/>
        </p:spPr>
        <p:txBody>
          <a:bodyPr wrap="square" lIns="0" tIns="0" rIns="0" bIns="0" rtlCol="0" anchor="t"/>
          <a:lstStyle/>
          <a:p>
            <a:pPr indent="0" marL="0">
              <a:lnSpc>
                <a:spcPts val="2100"/>
              </a:lnSpc>
              <a:buNone/>
            </a:pPr>
            <a:r>
              <a:rPr lang="en-US" sz="1450" dirty="0">
                <a:solidFill>
                  <a:srgbClr val="5D6B7A"/>
                </a:solidFill>
                <a:latin typeface="Calibri" pitchFamily="34" charset="0"/>
                <a:ea typeface="Calibri" pitchFamily="34" charset="-122"/>
                <a:cs typeface="Calibri" pitchFamily="34" charset="-120"/>
              </a:rPr>
              <a:t>Push a change, and it publishes itself in under a minute.</a:t>
            </a:r>
            <a:endParaRPr lang="en-US" sz="1450" dirty="0"/>
          </a:p>
        </p:txBody>
      </p:sp>
      <p:sp>
        <p:nvSpPr>
          <p:cNvPr id="15" name="Shape 13"/>
          <p:cNvSpPr/>
          <p:nvPr/>
        </p:nvSpPr>
        <p:spPr>
          <a:xfrm>
            <a:off x="8119872" y="1691640"/>
            <a:ext cx="3538728" cy="2926080"/>
          </a:xfrm>
          <a:prstGeom prst="roundRect">
            <a:avLst>
              <a:gd name="adj" fmla="val 2813"/>
            </a:avLst>
          </a:prstGeom>
          <a:solidFill>
            <a:srgbClr val="F6F9FB"/>
          </a:solidFill>
          <a:ln/>
        </p:spPr>
      </p:sp>
      <p:sp>
        <p:nvSpPr>
          <p:cNvPr id="16" name="Shape 14"/>
          <p:cNvSpPr/>
          <p:nvPr/>
        </p:nvSpPr>
        <p:spPr>
          <a:xfrm>
            <a:off x="8430768" y="2011680"/>
            <a:ext cx="566928" cy="566928"/>
          </a:xfrm>
          <a:prstGeom prst="ellipse">
            <a:avLst/>
          </a:prstGeom>
          <a:solidFill>
            <a:srgbClr val="1B2547"/>
          </a:solidFill>
          <a:ln/>
        </p:spPr>
      </p:sp>
      <p:sp>
        <p:nvSpPr>
          <p:cNvPr id="17" name="Text 15"/>
          <p:cNvSpPr/>
          <p:nvPr/>
        </p:nvSpPr>
        <p:spPr>
          <a:xfrm>
            <a:off x="8430768" y="20116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8430768" y="2788920"/>
            <a:ext cx="2916936" cy="457200"/>
          </a:xfrm>
          <a:prstGeom prst="rect">
            <a:avLst/>
          </a:prstGeom>
          <a:noFill/>
          <a:ln/>
        </p:spPr>
        <p:txBody>
          <a:bodyPr wrap="square" lIns="0" tIns="0" rIns="0" bIns="0" rtlCol="0" anchor="ctr"/>
          <a:lstStyle/>
          <a:p>
            <a:pPr indent="0" marL="0">
              <a:buNone/>
            </a:pPr>
            <a:r>
              <a:rPr lang="en-US" sz="2100" b="1" dirty="0">
                <a:solidFill>
                  <a:srgbClr val="18222E"/>
                </a:solidFill>
                <a:latin typeface="Cambria" pitchFamily="34" charset="0"/>
                <a:ea typeface="Cambria" pitchFamily="34" charset="-122"/>
                <a:cs typeface="Cambria" pitchFamily="34" charset="-120"/>
              </a:rPr>
              <a:t>The mental model</a:t>
            </a:r>
            <a:endParaRPr lang="en-US" sz="2100" dirty="0"/>
          </a:p>
        </p:txBody>
      </p:sp>
      <p:sp>
        <p:nvSpPr>
          <p:cNvPr id="19" name="Text 17"/>
          <p:cNvSpPr/>
          <p:nvPr/>
        </p:nvSpPr>
        <p:spPr>
          <a:xfrm>
            <a:off x="8430768" y="3291840"/>
            <a:ext cx="2916936" cy="1371600"/>
          </a:xfrm>
          <a:prstGeom prst="rect">
            <a:avLst/>
          </a:prstGeom>
          <a:noFill/>
          <a:ln/>
        </p:spPr>
        <p:txBody>
          <a:bodyPr wrap="square" lIns="0" tIns="0" rIns="0" bIns="0" rtlCol="0" anchor="t"/>
          <a:lstStyle/>
          <a:p>
            <a:pPr indent="0" marL="0">
              <a:lnSpc>
                <a:spcPts val="2100"/>
              </a:lnSpc>
              <a:buNone/>
            </a:pPr>
            <a:r>
              <a:rPr lang="en-US" sz="1450" dirty="0">
                <a:solidFill>
                  <a:srgbClr val="5D6B7A"/>
                </a:solidFill>
                <a:latin typeface="Calibri" pitchFamily="34" charset="0"/>
                <a:ea typeface="Calibri" pitchFamily="34" charset="-122"/>
                <a:cs typeface="Calibri" pitchFamily="34" charset="-120"/>
              </a:rPr>
              <a:t>Enough understanding to read any deploy pipeline you meet later.</a:t>
            </a:r>
            <a:endParaRPr lang="en-US" sz="1450" dirty="0"/>
          </a:p>
        </p:txBody>
      </p:sp>
      <p:sp>
        <p:nvSpPr>
          <p:cNvPr id="20" name="Text 18"/>
          <p:cNvSpPr/>
          <p:nvPr/>
        </p:nvSpPr>
        <p:spPr>
          <a:xfrm>
            <a:off x="566928" y="4892040"/>
            <a:ext cx="11057839" cy="365760"/>
          </a:xfrm>
          <a:prstGeom prst="rect">
            <a:avLst/>
          </a:prstGeom>
          <a:noFill/>
          <a:ln/>
        </p:spPr>
        <p:txBody>
          <a:bodyPr wrap="square" lIns="0" tIns="0" rIns="0" bIns="0" rtlCol="0" anchor="ctr"/>
          <a:lstStyle/>
          <a:p>
            <a:pPr indent="0" marL="0">
              <a:buNone/>
            </a:pPr>
            <a:r>
              <a:rPr lang="en-US" sz="1400" i="1" dirty="0">
                <a:solidFill>
                  <a:srgbClr val="065A82"/>
                </a:solidFill>
                <a:latin typeface="Calibri" pitchFamily="34" charset="0"/>
                <a:ea typeface="Calibri" pitchFamily="34" charset="-122"/>
                <a:cs typeface="Calibri" pitchFamily="34" charset="-120"/>
              </a:rPr>
              <a:t>Nothing you build today is thrown away — the same pattern runs real production deployments.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The problem we are solving</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Two ways to get a folder from your screen onto a server.</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3</a:t>
            </a:r>
            <a:endParaRPr lang="en-US" sz="1000" dirty="0"/>
          </a:p>
        </p:txBody>
      </p:sp>
      <p:sp>
        <p:nvSpPr>
          <p:cNvPr id="5" name="Shape 3"/>
          <p:cNvSpPr/>
          <p:nvPr/>
        </p:nvSpPr>
        <p:spPr>
          <a:xfrm>
            <a:off x="566928" y="1645920"/>
            <a:ext cx="5394960" cy="3566160"/>
          </a:xfrm>
          <a:prstGeom prst="roundRect">
            <a:avLst>
              <a:gd name="adj" fmla="val 2308"/>
            </a:avLst>
          </a:prstGeom>
          <a:solidFill>
            <a:srgbClr val="EDF3F7"/>
          </a:solidFill>
          <a:ln/>
        </p:spPr>
      </p:sp>
      <p:sp>
        <p:nvSpPr>
          <p:cNvPr id="6" name="Text 4"/>
          <p:cNvSpPr/>
          <p:nvPr/>
        </p:nvSpPr>
        <p:spPr>
          <a:xfrm>
            <a:off x="896112" y="1847088"/>
            <a:ext cx="4736592" cy="411480"/>
          </a:xfrm>
          <a:prstGeom prst="rect">
            <a:avLst/>
          </a:prstGeom>
          <a:noFill/>
          <a:ln/>
        </p:spPr>
        <p:txBody>
          <a:bodyPr wrap="square" lIns="0" tIns="0" rIns="0" bIns="0" rtlCol="0" anchor="ctr"/>
          <a:lstStyle/>
          <a:p>
            <a:pPr indent="0" marL="0">
              <a:buNone/>
            </a:pPr>
            <a:r>
              <a:rPr lang="en-US" sz="2200" b="1" dirty="0">
                <a:solidFill>
                  <a:srgbClr val="18222E"/>
                </a:solidFill>
                <a:latin typeface="Cambria" pitchFamily="34" charset="0"/>
                <a:ea typeface="Cambria" pitchFamily="34" charset="-122"/>
                <a:cs typeface="Cambria" pitchFamily="34" charset="-120"/>
              </a:rPr>
              <a:t>By hand</a:t>
            </a:r>
            <a:endParaRPr lang="en-US" sz="2200" dirty="0"/>
          </a:p>
        </p:txBody>
      </p:sp>
      <p:sp>
        <p:nvSpPr>
          <p:cNvPr id="7" name="Text 5"/>
          <p:cNvSpPr/>
          <p:nvPr/>
        </p:nvSpPr>
        <p:spPr>
          <a:xfrm>
            <a:off x="896112" y="2377440"/>
            <a:ext cx="4736592" cy="219456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rgbClr val="5D6B7A"/>
                </a:solidFill>
                <a:latin typeface="Calibri" pitchFamily="34" charset="0"/>
                <a:ea typeface="Calibri" pitchFamily="34" charset="-122"/>
                <a:cs typeface="Calibri" pitchFamily="34" charset="-120"/>
              </a:rPr>
              <a:t>Open a portal in a browser</a:t>
            </a:r>
            <a:endParaRPr lang="en-US" sz="1450" dirty="0"/>
          </a:p>
          <a:p>
            <a:pPr marL="342900" indent="-342900">
              <a:spcAft>
                <a:spcPts val="800"/>
              </a:spcAft>
              <a:buSzPct val="100000"/>
              <a:buChar char="•"/>
            </a:pPr>
            <a:r>
              <a:rPr lang="en-US" sz="1450" dirty="0">
                <a:solidFill>
                  <a:srgbClr val="5D6B7A"/>
                </a:solidFill>
                <a:latin typeface="Calibri" pitchFamily="34" charset="0"/>
                <a:ea typeface="Calibri" pitchFamily="34" charset="-122"/>
                <a:cs typeface="Calibri" pitchFamily="34" charset="-120"/>
              </a:rPr>
              <a:t>Find the right place to put things</a:t>
            </a:r>
            <a:endParaRPr lang="en-US" sz="1450" dirty="0"/>
          </a:p>
          <a:p>
            <a:pPr marL="342900" indent="-342900">
              <a:spcAft>
                <a:spcPts val="800"/>
              </a:spcAft>
              <a:buSzPct val="100000"/>
              <a:buChar char="•"/>
            </a:pPr>
            <a:r>
              <a:rPr lang="en-US" sz="1450" dirty="0">
                <a:solidFill>
                  <a:srgbClr val="5D6B7A"/>
                </a:solidFill>
                <a:latin typeface="Calibri" pitchFamily="34" charset="0"/>
                <a:ea typeface="Calibri" pitchFamily="34" charset="-122"/>
                <a:cs typeface="Calibri" pitchFamily="34" charset="-120"/>
              </a:rPr>
              <a:t>Drag the files across, wait</a:t>
            </a:r>
            <a:endParaRPr lang="en-US" sz="1450" dirty="0"/>
          </a:p>
          <a:p>
            <a:pPr marL="342900" indent="-342900">
              <a:spcAft>
                <a:spcPts val="800"/>
              </a:spcAft>
              <a:buSzPct val="100000"/>
              <a:buChar char="•"/>
            </a:pPr>
            <a:r>
              <a:rPr lang="en-US" sz="1450" dirty="0">
                <a:solidFill>
                  <a:srgbClr val="5D6B7A"/>
                </a:solidFill>
                <a:latin typeface="Calibri" pitchFamily="34" charset="0"/>
                <a:ea typeface="Calibri" pitchFamily="34" charset="-122"/>
                <a:cs typeface="Calibri" pitchFamily="34" charset="-120"/>
              </a:rPr>
              <a:t>Try to remember which files changed</a:t>
            </a:r>
            <a:endParaRPr lang="en-US" sz="1450" dirty="0"/>
          </a:p>
          <a:p>
            <a:pPr marL="342900" indent="-342900">
              <a:spcAft>
                <a:spcPts val="800"/>
              </a:spcAft>
              <a:buSzPct val="100000"/>
              <a:buChar char="•"/>
            </a:pPr>
            <a:r>
              <a:rPr lang="en-US" sz="1450" dirty="0">
                <a:solidFill>
                  <a:srgbClr val="5D6B7A"/>
                </a:solidFill>
                <a:latin typeface="Calibri" pitchFamily="34" charset="0"/>
                <a:ea typeface="Calibri" pitchFamily="34" charset="-122"/>
                <a:cs typeface="Calibri" pitchFamily="34" charset="-120"/>
              </a:rPr>
              <a:t>Do it again tomorrow, slightly differently</a:t>
            </a:r>
            <a:endParaRPr lang="en-US" sz="1450" dirty="0"/>
          </a:p>
        </p:txBody>
      </p:sp>
      <p:sp>
        <p:nvSpPr>
          <p:cNvPr id="8" name="Text 6"/>
          <p:cNvSpPr/>
          <p:nvPr/>
        </p:nvSpPr>
        <p:spPr>
          <a:xfrm>
            <a:off x="896112" y="4626864"/>
            <a:ext cx="4736592" cy="365760"/>
          </a:xfrm>
          <a:prstGeom prst="rect">
            <a:avLst/>
          </a:prstGeom>
          <a:noFill/>
          <a:ln/>
        </p:spPr>
        <p:txBody>
          <a:bodyPr wrap="square" lIns="0" tIns="0" rIns="0" bIns="0" rtlCol="0" anchor="ctr"/>
          <a:lstStyle/>
          <a:p>
            <a:pPr indent="0" marL="0">
              <a:buNone/>
            </a:pPr>
            <a:r>
              <a:rPr lang="en-US" sz="1350" b="1" dirty="0">
                <a:solidFill>
                  <a:srgbClr val="9A4B3F"/>
                </a:solidFill>
                <a:latin typeface="Calibri" pitchFamily="34" charset="0"/>
                <a:ea typeface="Calibri" pitchFamily="34" charset="-122"/>
                <a:cs typeface="Calibri" pitchFamily="34" charset="-120"/>
              </a:rPr>
              <a:t>No record of who did what, or when.</a:t>
            </a:r>
            <a:endParaRPr lang="en-US" sz="1350" dirty="0"/>
          </a:p>
        </p:txBody>
      </p:sp>
      <p:sp>
        <p:nvSpPr>
          <p:cNvPr id="9" name="Shape 7"/>
          <p:cNvSpPr/>
          <p:nvPr/>
        </p:nvSpPr>
        <p:spPr>
          <a:xfrm>
            <a:off x="6263640" y="1645920"/>
            <a:ext cx="5394960" cy="3566160"/>
          </a:xfrm>
          <a:prstGeom prst="roundRect">
            <a:avLst>
              <a:gd name="adj" fmla="val 2308"/>
            </a:avLst>
          </a:prstGeom>
          <a:solidFill>
            <a:srgbClr val="EDF3F7"/>
          </a:solidFill>
          <a:ln/>
        </p:spPr>
      </p:sp>
      <p:sp>
        <p:nvSpPr>
          <p:cNvPr id="10" name="Text 8"/>
          <p:cNvSpPr/>
          <p:nvPr/>
        </p:nvSpPr>
        <p:spPr>
          <a:xfrm>
            <a:off x="6592824" y="1847088"/>
            <a:ext cx="4736592" cy="41148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Automated</a:t>
            </a:r>
            <a:endParaRPr lang="en-US" sz="2200" dirty="0"/>
          </a:p>
        </p:txBody>
      </p:sp>
      <p:sp>
        <p:nvSpPr>
          <p:cNvPr id="11" name="Text 9"/>
          <p:cNvSpPr/>
          <p:nvPr/>
        </p:nvSpPr>
        <p:spPr>
          <a:xfrm>
            <a:off x="6592824" y="2377440"/>
            <a:ext cx="4736592" cy="82296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rgbClr val="5D6B7A"/>
                </a:solidFill>
                <a:latin typeface="Calibri" pitchFamily="34" charset="0"/>
                <a:ea typeface="Calibri" pitchFamily="34" charset="-122"/>
                <a:cs typeface="Calibri" pitchFamily="34" charset="-120"/>
              </a:rPr>
              <a:t>Save your change</a:t>
            </a:r>
            <a:endParaRPr lang="en-US" sz="1450" dirty="0"/>
          </a:p>
          <a:p>
            <a:pPr marL="342900" indent="-342900">
              <a:spcAft>
                <a:spcPts val="800"/>
              </a:spcAft>
              <a:buSzPct val="100000"/>
              <a:buChar char="•"/>
            </a:pPr>
            <a:r>
              <a:rPr lang="en-US" sz="1450" dirty="0">
                <a:solidFill>
                  <a:srgbClr val="5D6B7A"/>
                </a:solidFill>
                <a:latin typeface="Calibri" pitchFamily="34" charset="0"/>
                <a:ea typeface="Calibri" pitchFamily="34" charset="-122"/>
                <a:cs typeface="Calibri" pitchFamily="34" charset="-120"/>
              </a:rPr>
              <a:t>…that is the whole list</a:t>
            </a:r>
            <a:endParaRPr lang="en-US" sz="1450" dirty="0"/>
          </a:p>
        </p:txBody>
      </p:sp>
      <p:sp>
        <p:nvSpPr>
          <p:cNvPr id="12" name="Text 10"/>
          <p:cNvSpPr/>
          <p:nvPr/>
        </p:nvSpPr>
        <p:spPr>
          <a:xfrm>
            <a:off x="6592824" y="3291840"/>
            <a:ext cx="4736592" cy="1188720"/>
          </a:xfrm>
          <a:prstGeom prst="rect">
            <a:avLst/>
          </a:prstGeom>
          <a:noFill/>
          <a:ln/>
        </p:spPr>
        <p:txBody>
          <a:bodyPr wrap="square" lIns="0" tIns="0" rIns="0" bIns="0" rtlCol="0" anchor="ctr"/>
          <a:lstStyle/>
          <a:p>
            <a:pPr indent="0" marL="0">
              <a:lnSpc>
                <a:spcPts val="2100"/>
              </a:lnSpc>
              <a:buNone/>
            </a:pPr>
            <a:r>
              <a:rPr lang="en-US" sz="1450" dirty="0">
                <a:solidFill>
                  <a:srgbClr val="18222E"/>
                </a:solidFill>
                <a:latin typeface="Calibri" pitchFamily="34" charset="0"/>
                <a:ea typeface="Calibri" pitchFamily="34" charset="-122"/>
                <a:cs typeface="Calibri" pitchFamily="34" charset="-120"/>
              </a:rPr>
              <a:t>Every deploy is recorded, repeatable, and identical. Anyone on the team can trigger one, or see why one failed.</a:t>
            </a:r>
            <a:endParaRPr lang="en-US" sz="1450" dirty="0"/>
          </a:p>
        </p:txBody>
      </p:sp>
      <p:sp>
        <p:nvSpPr>
          <p:cNvPr id="13" name="Text 11"/>
          <p:cNvSpPr/>
          <p:nvPr/>
        </p:nvSpPr>
        <p:spPr>
          <a:xfrm>
            <a:off x="6592824" y="4626864"/>
            <a:ext cx="4736592" cy="36576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The machine never forgets a step.</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547"/>
        </a:solidFill>
      </p:bgPr>
    </p:bg>
    <p:spTree>
      <p:nvGrpSpPr>
        <p:cNvPr id="1" name=""/>
        <p:cNvGrpSpPr/>
        <p:nvPr/>
      </p:nvGrpSpPr>
      <p:grpSpPr>
        <a:xfrm>
          <a:off x="0" y="0"/>
          <a:ext cx="0" cy="0"/>
          <a:chOff x="0" y="0"/>
          <a:chExt cx="0" cy="0"/>
        </a:xfrm>
      </p:grpSpPr>
      <p:sp>
        <p:nvSpPr>
          <p:cNvPr id="2" name="Text 0"/>
          <p:cNvSpPr/>
          <p:nvPr/>
        </p:nvSpPr>
        <p:spPr>
          <a:xfrm>
            <a:off x="566928" y="2148840"/>
            <a:ext cx="11057839" cy="320040"/>
          </a:xfrm>
          <a:prstGeom prst="rect">
            <a:avLst/>
          </a:prstGeom>
          <a:noFill/>
          <a:ln/>
        </p:spPr>
        <p:txBody>
          <a:bodyPr wrap="square" lIns="0" tIns="0" rIns="0" bIns="0" rtlCol="0" anchor="ctr"/>
          <a:lstStyle/>
          <a:p>
            <a:pPr indent="0" marL="0">
              <a:buNone/>
            </a:pPr>
            <a:r>
              <a:rPr lang="en-US" sz="1300" b="1" spc="250" kern="0" dirty="0">
                <a:solidFill>
                  <a:srgbClr val="FFB627"/>
                </a:solidFill>
                <a:latin typeface="Calibri" pitchFamily="34" charset="0"/>
                <a:ea typeface="Calibri" pitchFamily="34" charset="-122"/>
                <a:cs typeface="Calibri" pitchFamily="34" charset="-120"/>
              </a:rPr>
              <a:t>WATCH FIRST, UNDERSTAND SECOND</a:t>
            </a:r>
            <a:endParaRPr lang="en-US" sz="1300" dirty="0"/>
          </a:p>
        </p:txBody>
      </p:sp>
      <p:sp>
        <p:nvSpPr>
          <p:cNvPr id="3" name="Text 1"/>
          <p:cNvSpPr/>
          <p:nvPr/>
        </p:nvSpPr>
        <p:spPr>
          <a:xfrm>
            <a:off x="566928" y="2560320"/>
            <a:ext cx="9509742"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Let me show you the whole thing</a:t>
            </a:r>
            <a:endParaRPr lang="en-US" sz="4400" dirty="0"/>
          </a:p>
        </p:txBody>
      </p:sp>
      <p:sp>
        <p:nvSpPr>
          <p:cNvPr id="4" name="Text 2"/>
          <p:cNvSpPr/>
          <p:nvPr/>
        </p:nvSpPr>
        <p:spPr>
          <a:xfrm>
            <a:off x="566928" y="4069080"/>
            <a:ext cx="7961644" cy="914400"/>
          </a:xfrm>
          <a:prstGeom prst="rect">
            <a:avLst/>
          </a:prstGeom>
          <a:noFill/>
          <a:ln/>
        </p:spPr>
        <p:txBody>
          <a:bodyPr wrap="square" lIns="0" tIns="0" rIns="0" bIns="0" rtlCol="0" anchor="ctr"/>
          <a:lstStyle/>
          <a:p>
            <a:pPr indent="0" marL="0">
              <a:lnSpc>
                <a:spcPts val="2600"/>
              </a:lnSpc>
              <a:buNone/>
            </a:pPr>
            <a:r>
              <a:rPr lang="en-US" sz="1700" dirty="0">
                <a:solidFill>
                  <a:srgbClr val="C3D0E4"/>
                </a:solidFill>
                <a:latin typeface="Calibri" pitchFamily="34" charset="0"/>
                <a:ea typeface="Calibri" pitchFamily="34" charset="-122"/>
                <a:cs typeface="Calibri" pitchFamily="34" charset="-120"/>
              </a:rPr>
              <a:t>No explanation yet. Just watch what I touch and what happens on its own. Seven minutes.</a:t>
            </a:r>
            <a:endParaRPr lang="en-US" sz="1700" dirty="0"/>
          </a:p>
        </p:txBody>
      </p:sp>
      <p:sp>
        <p:nvSpPr>
          <p:cNvPr id="5" name="Text 3"/>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8290B8"/>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FFB627"/>
                </a:solidFill>
                <a:latin typeface="Calibri" pitchFamily="34" charset="0"/>
                <a:ea typeface="Calibri" pitchFamily="34" charset="-122"/>
                <a:cs typeface="Calibri" pitchFamily="34" charset="-120"/>
              </a:rPr>
              <a:t>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What just happened</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Four steps. Only the first one involved a human.</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5</a:t>
            </a:r>
            <a:endParaRPr lang="en-US" sz="1000" dirty="0"/>
          </a:p>
        </p:txBody>
      </p:sp>
      <p:sp>
        <p:nvSpPr>
          <p:cNvPr id="5" name="Shape 3"/>
          <p:cNvSpPr/>
          <p:nvPr/>
        </p:nvSpPr>
        <p:spPr>
          <a:xfrm>
            <a:off x="566928" y="1737360"/>
            <a:ext cx="2551176" cy="3154680"/>
          </a:xfrm>
          <a:prstGeom prst="roundRect">
            <a:avLst>
              <a:gd name="adj" fmla="val 3226"/>
            </a:avLst>
          </a:prstGeom>
          <a:solidFill>
            <a:srgbClr val="F6F9FB"/>
          </a:solidFill>
          <a:ln/>
        </p:spPr>
      </p:sp>
      <p:sp>
        <p:nvSpPr>
          <p:cNvPr id="6" name="Shape 4"/>
          <p:cNvSpPr/>
          <p:nvPr/>
        </p:nvSpPr>
        <p:spPr>
          <a:xfrm>
            <a:off x="841248" y="2029968"/>
            <a:ext cx="530352" cy="530352"/>
          </a:xfrm>
          <a:prstGeom prst="ellipse">
            <a:avLst/>
          </a:prstGeom>
          <a:solidFill>
            <a:srgbClr val="065A82"/>
          </a:solidFill>
          <a:ln/>
        </p:spPr>
      </p:sp>
      <p:sp>
        <p:nvSpPr>
          <p:cNvPr id="7" name="Text 5"/>
          <p:cNvSpPr/>
          <p:nvPr/>
        </p:nvSpPr>
        <p:spPr>
          <a:xfrm>
            <a:off x="841248" y="2029968"/>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41248" y="2743200"/>
            <a:ext cx="2002536" cy="658368"/>
          </a:xfrm>
          <a:prstGeom prst="rect">
            <a:avLst/>
          </a:prstGeom>
          <a:noFill/>
          <a:ln/>
        </p:spPr>
        <p:txBody>
          <a:bodyPr wrap="square" lIns="0" tIns="0" rIns="0" bIns="0" rtlCol="0" anchor="ctr"/>
          <a:lstStyle/>
          <a:p>
            <a:pPr indent="0" marL="0">
              <a:lnSpc>
                <a:spcPts val="2100"/>
              </a:lnSpc>
              <a:buNone/>
            </a:pPr>
            <a:r>
              <a:rPr lang="en-US" sz="1700" b="1" dirty="0">
                <a:solidFill>
                  <a:srgbClr val="18222E"/>
                </a:solidFill>
                <a:latin typeface="Cambria" pitchFamily="34" charset="0"/>
                <a:ea typeface="Cambria" pitchFamily="34" charset="-122"/>
                <a:cs typeface="Cambria" pitchFamily="34" charset="-120"/>
              </a:rPr>
              <a:t>You save a change</a:t>
            </a:r>
            <a:endParaRPr lang="en-US" sz="1700" dirty="0"/>
          </a:p>
        </p:txBody>
      </p:sp>
      <p:sp>
        <p:nvSpPr>
          <p:cNvPr id="9" name="Text 7"/>
          <p:cNvSpPr/>
          <p:nvPr/>
        </p:nvSpPr>
        <p:spPr>
          <a:xfrm>
            <a:off x="841248" y="3456432"/>
            <a:ext cx="2002536" cy="1280160"/>
          </a:xfrm>
          <a:prstGeom prst="rect">
            <a:avLst/>
          </a:prstGeom>
          <a:noFill/>
          <a:ln/>
        </p:spPr>
        <p:txBody>
          <a:bodyPr wrap="square" lIns="0" tIns="0" rIns="0" bIns="0" rtlCol="0" anchor="t"/>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You edit a file and commit it. This is the only human action in the whole chain.</a:t>
            </a:r>
            <a:endParaRPr lang="en-US" sz="1300" dirty="0"/>
          </a:p>
        </p:txBody>
      </p:sp>
      <p:sp>
        <p:nvSpPr>
          <p:cNvPr id="10" name="Text 8"/>
          <p:cNvSpPr/>
          <p:nvPr/>
        </p:nvSpPr>
        <p:spPr>
          <a:xfrm>
            <a:off x="3136392" y="3063240"/>
            <a:ext cx="246888" cy="365760"/>
          </a:xfrm>
          <a:prstGeom prst="rect">
            <a:avLst/>
          </a:prstGeom>
          <a:noFill/>
          <a:ln/>
        </p:spPr>
        <p:txBody>
          <a:bodyPr wrap="square" lIns="0" tIns="0" rIns="0" bIns="0" rtlCol="0" anchor="ctr"/>
          <a:lstStyle/>
          <a:p>
            <a:pPr algn="ctr" indent="0" marL="0">
              <a:buNone/>
            </a:pPr>
            <a:r>
              <a:rPr lang="en-US" sz="1800" b="1" dirty="0">
                <a:solidFill>
                  <a:srgbClr val="A9BCC9"/>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401568" y="1737360"/>
            <a:ext cx="2551176" cy="3154680"/>
          </a:xfrm>
          <a:prstGeom prst="roundRect">
            <a:avLst>
              <a:gd name="adj" fmla="val 3226"/>
            </a:avLst>
          </a:prstGeom>
          <a:solidFill>
            <a:srgbClr val="F6F9FB"/>
          </a:solidFill>
          <a:ln/>
        </p:spPr>
      </p:sp>
      <p:sp>
        <p:nvSpPr>
          <p:cNvPr id="12" name="Shape 10"/>
          <p:cNvSpPr/>
          <p:nvPr/>
        </p:nvSpPr>
        <p:spPr>
          <a:xfrm>
            <a:off x="3675888" y="2029968"/>
            <a:ext cx="530352" cy="530352"/>
          </a:xfrm>
          <a:prstGeom prst="ellipse">
            <a:avLst/>
          </a:prstGeom>
          <a:solidFill>
            <a:srgbClr val="1C7293"/>
          </a:solidFill>
          <a:ln/>
        </p:spPr>
      </p:sp>
      <p:sp>
        <p:nvSpPr>
          <p:cNvPr id="13" name="Text 11"/>
          <p:cNvSpPr/>
          <p:nvPr/>
        </p:nvSpPr>
        <p:spPr>
          <a:xfrm>
            <a:off x="3675888" y="2029968"/>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3675888" y="2743200"/>
            <a:ext cx="2002536" cy="658368"/>
          </a:xfrm>
          <a:prstGeom prst="rect">
            <a:avLst/>
          </a:prstGeom>
          <a:noFill/>
          <a:ln/>
        </p:spPr>
        <p:txBody>
          <a:bodyPr wrap="square" lIns="0" tIns="0" rIns="0" bIns="0" rtlCol="0" anchor="ctr"/>
          <a:lstStyle/>
          <a:p>
            <a:pPr indent="0" marL="0">
              <a:lnSpc>
                <a:spcPts val="2100"/>
              </a:lnSpc>
              <a:buNone/>
            </a:pPr>
            <a:r>
              <a:rPr lang="en-US" sz="1700" b="1" dirty="0">
                <a:solidFill>
                  <a:srgbClr val="18222E"/>
                </a:solidFill>
                <a:latin typeface="Cambria" pitchFamily="34" charset="0"/>
                <a:ea typeface="Cambria" pitchFamily="34" charset="-122"/>
                <a:cs typeface="Cambria" pitchFamily="34" charset="-120"/>
              </a:rPr>
              <a:t>GitHub notices</a:t>
            </a:r>
            <a:endParaRPr lang="en-US" sz="1700" dirty="0"/>
          </a:p>
        </p:txBody>
      </p:sp>
      <p:sp>
        <p:nvSpPr>
          <p:cNvPr id="15" name="Text 13"/>
          <p:cNvSpPr/>
          <p:nvPr/>
        </p:nvSpPr>
        <p:spPr>
          <a:xfrm>
            <a:off x="3675888" y="3456432"/>
            <a:ext cx="2002536" cy="1280160"/>
          </a:xfrm>
          <a:prstGeom prst="rect">
            <a:avLst/>
          </a:prstGeom>
          <a:noFill/>
          <a:ln/>
        </p:spPr>
        <p:txBody>
          <a:bodyPr wrap="square" lIns="0" tIns="0" rIns="0" bIns="0" rtlCol="0" anchor="t"/>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GitHub sees the change and checks: does this match anything I was told to watch for?</a:t>
            </a:r>
            <a:endParaRPr lang="en-US" sz="1300" dirty="0"/>
          </a:p>
        </p:txBody>
      </p:sp>
      <p:sp>
        <p:nvSpPr>
          <p:cNvPr id="16" name="Text 14"/>
          <p:cNvSpPr/>
          <p:nvPr/>
        </p:nvSpPr>
        <p:spPr>
          <a:xfrm>
            <a:off x="5971032" y="3063240"/>
            <a:ext cx="246888" cy="365760"/>
          </a:xfrm>
          <a:prstGeom prst="rect">
            <a:avLst/>
          </a:prstGeom>
          <a:noFill/>
          <a:ln/>
        </p:spPr>
        <p:txBody>
          <a:bodyPr wrap="square" lIns="0" tIns="0" rIns="0" bIns="0" rtlCol="0" anchor="ctr"/>
          <a:lstStyle/>
          <a:p>
            <a:pPr algn="ctr" indent="0" marL="0">
              <a:buNone/>
            </a:pPr>
            <a:r>
              <a:rPr lang="en-US" sz="1800" b="1" dirty="0">
                <a:solidFill>
                  <a:srgbClr val="A9BCC9"/>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6236208" y="1737360"/>
            <a:ext cx="2551176" cy="3154680"/>
          </a:xfrm>
          <a:prstGeom prst="roundRect">
            <a:avLst>
              <a:gd name="adj" fmla="val 3226"/>
            </a:avLst>
          </a:prstGeom>
          <a:solidFill>
            <a:srgbClr val="F6F9FB"/>
          </a:solidFill>
          <a:ln/>
        </p:spPr>
      </p:sp>
      <p:sp>
        <p:nvSpPr>
          <p:cNvPr id="18" name="Shape 16"/>
          <p:cNvSpPr/>
          <p:nvPr/>
        </p:nvSpPr>
        <p:spPr>
          <a:xfrm>
            <a:off x="6510528" y="2029968"/>
            <a:ext cx="530352" cy="530352"/>
          </a:xfrm>
          <a:prstGeom prst="ellipse">
            <a:avLst/>
          </a:prstGeom>
          <a:solidFill>
            <a:srgbClr val="1C7293"/>
          </a:solidFill>
          <a:ln/>
        </p:spPr>
      </p:sp>
      <p:sp>
        <p:nvSpPr>
          <p:cNvPr id="19" name="Text 17"/>
          <p:cNvSpPr/>
          <p:nvPr/>
        </p:nvSpPr>
        <p:spPr>
          <a:xfrm>
            <a:off x="6510528" y="2029968"/>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6510528" y="2743200"/>
            <a:ext cx="2002536" cy="658368"/>
          </a:xfrm>
          <a:prstGeom prst="rect">
            <a:avLst/>
          </a:prstGeom>
          <a:noFill/>
          <a:ln/>
        </p:spPr>
        <p:txBody>
          <a:bodyPr wrap="square" lIns="0" tIns="0" rIns="0" bIns="0" rtlCol="0" anchor="ctr"/>
          <a:lstStyle/>
          <a:p>
            <a:pPr indent="0" marL="0">
              <a:lnSpc>
                <a:spcPts val="2100"/>
              </a:lnSpc>
              <a:buNone/>
            </a:pPr>
            <a:r>
              <a:rPr lang="en-US" sz="1700" b="1" dirty="0">
                <a:solidFill>
                  <a:srgbClr val="18222E"/>
                </a:solidFill>
                <a:latin typeface="Cambria" pitchFamily="34" charset="0"/>
                <a:ea typeface="Cambria" pitchFamily="34" charset="-122"/>
                <a:cs typeface="Cambria" pitchFamily="34" charset="-120"/>
              </a:rPr>
              <a:t>The steps run</a:t>
            </a:r>
            <a:endParaRPr lang="en-US" sz="1700" dirty="0"/>
          </a:p>
        </p:txBody>
      </p:sp>
      <p:sp>
        <p:nvSpPr>
          <p:cNvPr id="21" name="Text 19"/>
          <p:cNvSpPr/>
          <p:nvPr/>
        </p:nvSpPr>
        <p:spPr>
          <a:xfrm>
            <a:off x="6510528" y="3456432"/>
            <a:ext cx="2002536" cy="1280160"/>
          </a:xfrm>
          <a:prstGeom prst="rect">
            <a:avLst/>
          </a:prstGeom>
          <a:noFill/>
          <a:ln/>
        </p:spPr>
        <p:txBody>
          <a:bodyPr wrap="square" lIns="0" tIns="0" rIns="0" bIns="0" rtlCol="0" anchor="t"/>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A fresh computer starts up in a data centre, takes a copy of your files, and runs your instructions.</a:t>
            </a:r>
            <a:endParaRPr lang="en-US" sz="1300" dirty="0"/>
          </a:p>
        </p:txBody>
      </p:sp>
      <p:sp>
        <p:nvSpPr>
          <p:cNvPr id="22" name="Text 20"/>
          <p:cNvSpPr/>
          <p:nvPr/>
        </p:nvSpPr>
        <p:spPr>
          <a:xfrm>
            <a:off x="8805672" y="3063240"/>
            <a:ext cx="246888" cy="365760"/>
          </a:xfrm>
          <a:prstGeom prst="rect">
            <a:avLst/>
          </a:prstGeom>
          <a:noFill/>
          <a:ln/>
        </p:spPr>
        <p:txBody>
          <a:bodyPr wrap="square" lIns="0" tIns="0" rIns="0" bIns="0" rtlCol="0" anchor="ctr"/>
          <a:lstStyle/>
          <a:p>
            <a:pPr algn="ctr" indent="0" marL="0">
              <a:buNone/>
            </a:pPr>
            <a:r>
              <a:rPr lang="en-US" sz="1800" b="1" dirty="0">
                <a:solidFill>
                  <a:srgbClr val="A9BCC9"/>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9070848" y="1737360"/>
            <a:ext cx="2551176" cy="3154680"/>
          </a:xfrm>
          <a:prstGeom prst="roundRect">
            <a:avLst>
              <a:gd name="adj" fmla="val 3226"/>
            </a:avLst>
          </a:prstGeom>
          <a:solidFill>
            <a:srgbClr val="F6F9FB"/>
          </a:solidFill>
          <a:ln/>
        </p:spPr>
      </p:sp>
      <p:sp>
        <p:nvSpPr>
          <p:cNvPr id="24" name="Shape 22"/>
          <p:cNvSpPr/>
          <p:nvPr/>
        </p:nvSpPr>
        <p:spPr>
          <a:xfrm>
            <a:off x="9345168" y="2029968"/>
            <a:ext cx="530352" cy="530352"/>
          </a:xfrm>
          <a:prstGeom prst="ellipse">
            <a:avLst/>
          </a:prstGeom>
          <a:solidFill>
            <a:srgbClr val="1B2547"/>
          </a:solidFill>
          <a:ln/>
        </p:spPr>
      </p:sp>
      <p:sp>
        <p:nvSpPr>
          <p:cNvPr id="25" name="Text 23"/>
          <p:cNvSpPr/>
          <p:nvPr/>
        </p:nvSpPr>
        <p:spPr>
          <a:xfrm>
            <a:off x="9345168" y="2029968"/>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9345168" y="2743200"/>
            <a:ext cx="2002536" cy="658368"/>
          </a:xfrm>
          <a:prstGeom prst="rect">
            <a:avLst/>
          </a:prstGeom>
          <a:noFill/>
          <a:ln/>
        </p:spPr>
        <p:txBody>
          <a:bodyPr wrap="square" lIns="0" tIns="0" rIns="0" bIns="0" rtlCol="0" anchor="ctr"/>
          <a:lstStyle/>
          <a:p>
            <a:pPr indent="0" marL="0">
              <a:lnSpc>
                <a:spcPts val="2100"/>
              </a:lnSpc>
              <a:buNone/>
            </a:pPr>
            <a:r>
              <a:rPr lang="en-US" sz="1700" b="1" dirty="0">
                <a:solidFill>
                  <a:srgbClr val="18222E"/>
                </a:solidFill>
                <a:latin typeface="Cambria" pitchFamily="34" charset="0"/>
                <a:ea typeface="Cambria" pitchFamily="34" charset="-122"/>
                <a:cs typeface="Cambria" pitchFamily="34" charset="-120"/>
              </a:rPr>
              <a:t>Azure has your files</a:t>
            </a:r>
            <a:endParaRPr lang="en-US" sz="1700" dirty="0"/>
          </a:p>
        </p:txBody>
      </p:sp>
      <p:sp>
        <p:nvSpPr>
          <p:cNvPr id="27" name="Text 25"/>
          <p:cNvSpPr/>
          <p:nvPr/>
        </p:nvSpPr>
        <p:spPr>
          <a:xfrm>
            <a:off x="9345168" y="3456432"/>
            <a:ext cx="2002536" cy="1280160"/>
          </a:xfrm>
          <a:prstGeom prst="rect">
            <a:avLst/>
          </a:prstGeom>
          <a:noFill/>
          <a:ln/>
        </p:spPr>
        <p:txBody>
          <a:bodyPr wrap="square" lIns="0" tIns="0" rIns="0" bIns="0" rtlCol="0" anchor="t"/>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The files are uploaded to storage and served on a public web address.</a:t>
            </a:r>
            <a:endParaRPr lang="en-US" sz="1300" dirty="0"/>
          </a:p>
        </p:txBody>
      </p:sp>
      <p:sp>
        <p:nvSpPr>
          <p:cNvPr id="28" name="Text 26"/>
          <p:cNvSpPr/>
          <p:nvPr/>
        </p:nvSpPr>
        <p:spPr>
          <a:xfrm>
            <a:off x="566928" y="5193792"/>
            <a:ext cx="11057839" cy="365760"/>
          </a:xfrm>
          <a:prstGeom prst="rect">
            <a:avLst/>
          </a:prstGeom>
          <a:noFill/>
          <a:ln/>
        </p:spPr>
        <p:txBody>
          <a:bodyPr wrap="square" lIns="0" tIns="0" rIns="0" bIns="0" rtlCol="0" anchor="ctr"/>
          <a:lstStyle/>
          <a:p>
            <a:pPr indent="0" marL="0">
              <a:buNone/>
            </a:pPr>
            <a:r>
              <a:rPr lang="en-US" sz="1400" i="1" dirty="0">
                <a:solidFill>
                  <a:srgbClr val="065A82"/>
                </a:solidFill>
                <a:latin typeface="Calibri" pitchFamily="34" charset="0"/>
                <a:ea typeface="Calibri" pitchFamily="34" charset="-122"/>
                <a:cs typeface="Calibri" pitchFamily="34" charset="-120"/>
              </a:rPr>
              <a:t>The whole chain took about 40 seconds, and it will take about 40 seconds every single time.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The instructions live in one file</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A workflow file has three parts. You will only touch the first two.</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6</a:t>
            </a:r>
            <a:endParaRPr lang="en-US" sz="1000" dirty="0"/>
          </a:p>
        </p:txBody>
      </p:sp>
      <p:sp>
        <p:nvSpPr>
          <p:cNvPr id="5" name="Shape 3"/>
          <p:cNvSpPr/>
          <p:nvPr/>
        </p:nvSpPr>
        <p:spPr>
          <a:xfrm>
            <a:off x="566928" y="1691640"/>
            <a:ext cx="11057839" cy="1051560"/>
          </a:xfrm>
          <a:prstGeom prst="roundRect">
            <a:avLst>
              <a:gd name="adj" fmla="val 7826"/>
            </a:avLst>
          </a:prstGeom>
          <a:solidFill>
            <a:srgbClr val="EDF3F7"/>
          </a:solidFill>
          <a:ln/>
        </p:spPr>
      </p:sp>
      <p:sp>
        <p:nvSpPr>
          <p:cNvPr id="6" name="Shape 4"/>
          <p:cNvSpPr/>
          <p:nvPr/>
        </p:nvSpPr>
        <p:spPr>
          <a:xfrm>
            <a:off x="841248" y="2002536"/>
            <a:ext cx="1234440" cy="420624"/>
          </a:xfrm>
          <a:prstGeom prst="roundRect">
            <a:avLst>
              <a:gd name="adj" fmla="val 13043"/>
            </a:avLst>
          </a:prstGeom>
          <a:solidFill>
            <a:srgbClr val="FFFFFF"/>
          </a:solidFill>
          <a:ln/>
        </p:spPr>
      </p:sp>
      <p:sp>
        <p:nvSpPr>
          <p:cNvPr id="7" name="Text 5"/>
          <p:cNvSpPr/>
          <p:nvPr/>
        </p:nvSpPr>
        <p:spPr>
          <a:xfrm>
            <a:off x="969264" y="2002536"/>
            <a:ext cx="978408" cy="420624"/>
          </a:xfrm>
          <a:prstGeom prst="rect">
            <a:avLst/>
          </a:prstGeom>
          <a:noFill/>
          <a:ln/>
        </p:spPr>
        <p:txBody>
          <a:bodyPr wrap="square" lIns="0" tIns="0" rIns="0" bIns="0" rtlCol="0" anchor="ctr"/>
          <a:lstStyle/>
          <a:p>
            <a:pPr indent="0" marL="0">
              <a:buNone/>
            </a:pPr>
            <a:r>
              <a:rPr lang="en-US" sz="1500" b="1" dirty="0">
                <a:solidFill>
                  <a:srgbClr val="065A82"/>
                </a:solidFill>
                <a:latin typeface="Courier New" pitchFamily="34" charset="0"/>
                <a:ea typeface="Courier New" pitchFamily="34" charset="-122"/>
                <a:cs typeface="Courier New" pitchFamily="34" charset="-120"/>
              </a:rPr>
              <a:t>on:</a:t>
            </a:r>
            <a:endParaRPr lang="en-US" sz="1500" dirty="0"/>
          </a:p>
        </p:txBody>
      </p:sp>
      <p:sp>
        <p:nvSpPr>
          <p:cNvPr id="8" name="Text 6"/>
          <p:cNvSpPr/>
          <p:nvPr/>
        </p:nvSpPr>
        <p:spPr>
          <a:xfrm>
            <a:off x="2286000" y="1856232"/>
            <a:ext cx="3200400" cy="384048"/>
          </a:xfrm>
          <a:prstGeom prst="rect">
            <a:avLst/>
          </a:prstGeom>
          <a:noFill/>
          <a:ln/>
        </p:spPr>
        <p:txBody>
          <a:bodyPr wrap="square" lIns="0" tIns="0" rIns="0" bIns="0" rtlCol="0" anchor="ctr"/>
          <a:lstStyle/>
          <a:p>
            <a:pPr indent="0" marL="0">
              <a:buNone/>
            </a:pPr>
            <a:r>
              <a:rPr lang="en-US" sz="1800" b="1" dirty="0">
                <a:solidFill>
                  <a:srgbClr val="065A82"/>
                </a:solidFill>
                <a:latin typeface="Cambria" pitchFamily="34" charset="0"/>
                <a:ea typeface="Cambria" pitchFamily="34" charset="-122"/>
                <a:cs typeface="Cambria" pitchFamily="34" charset="-120"/>
              </a:rPr>
              <a:t>WHEN should this run?</a:t>
            </a:r>
            <a:endParaRPr lang="en-US" sz="1800" dirty="0"/>
          </a:p>
        </p:txBody>
      </p:sp>
      <p:sp>
        <p:nvSpPr>
          <p:cNvPr id="9" name="Text 7"/>
          <p:cNvSpPr/>
          <p:nvPr/>
        </p:nvSpPr>
        <p:spPr>
          <a:xfrm>
            <a:off x="2286000" y="2240280"/>
            <a:ext cx="8954719" cy="384048"/>
          </a:xfrm>
          <a:prstGeom prst="rect">
            <a:avLst/>
          </a:prstGeom>
          <a:noFill/>
          <a:ln/>
        </p:spPr>
        <p:txBody>
          <a:bodyPr wrap="square" lIns="0" tIns="0" rIns="0" bIns="0" rtlCol="0" anchor="ctr"/>
          <a:lstStyle/>
          <a:p>
            <a:pPr indent="0" marL="0">
              <a:buNone/>
            </a:pPr>
            <a:r>
              <a:rPr lang="en-US" sz="1400" dirty="0">
                <a:solidFill>
                  <a:srgbClr val="5D6B7A"/>
                </a:solidFill>
                <a:latin typeface="Calibri" pitchFamily="34" charset="0"/>
                <a:ea typeface="Calibri" pitchFamily="34" charset="-122"/>
                <a:cs typeface="Calibri" pitchFamily="34" charset="-120"/>
              </a:rPr>
              <a:t>The trigger. A gate — if nothing here matches, nothing happens at all.</a:t>
            </a:r>
            <a:endParaRPr lang="en-US" sz="1400" dirty="0"/>
          </a:p>
        </p:txBody>
      </p:sp>
      <p:sp>
        <p:nvSpPr>
          <p:cNvPr id="10" name="Shape 8"/>
          <p:cNvSpPr/>
          <p:nvPr/>
        </p:nvSpPr>
        <p:spPr>
          <a:xfrm>
            <a:off x="566928" y="2898648"/>
            <a:ext cx="11057839" cy="1051560"/>
          </a:xfrm>
          <a:prstGeom prst="roundRect">
            <a:avLst>
              <a:gd name="adj" fmla="val 7826"/>
            </a:avLst>
          </a:prstGeom>
          <a:solidFill>
            <a:srgbClr val="EDF3F7"/>
          </a:solidFill>
          <a:ln/>
        </p:spPr>
      </p:sp>
      <p:sp>
        <p:nvSpPr>
          <p:cNvPr id="11" name="Shape 9"/>
          <p:cNvSpPr/>
          <p:nvPr/>
        </p:nvSpPr>
        <p:spPr>
          <a:xfrm>
            <a:off x="841248" y="3209544"/>
            <a:ext cx="1234440" cy="420624"/>
          </a:xfrm>
          <a:prstGeom prst="roundRect">
            <a:avLst>
              <a:gd name="adj" fmla="val 13043"/>
            </a:avLst>
          </a:prstGeom>
          <a:solidFill>
            <a:srgbClr val="FFFFFF"/>
          </a:solidFill>
          <a:ln/>
        </p:spPr>
      </p:sp>
      <p:sp>
        <p:nvSpPr>
          <p:cNvPr id="12" name="Text 10"/>
          <p:cNvSpPr/>
          <p:nvPr/>
        </p:nvSpPr>
        <p:spPr>
          <a:xfrm>
            <a:off x="969264" y="3209544"/>
            <a:ext cx="978408" cy="420624"/>
          </a:xfrm>
          <a:prstGeom prst="rect">
            <a:avLst/>
          </a:prstGeom>
          <a:noFill/>
          <a:ln/>
        </p:spPr>
        <p:txBody>
          <a:bodyPr wrap="square" lIns="0" tIns="0" rIns="0" bIns="0" rtlCol="0" anchor="ctr"/>
          <a:lstStyle/>
          <a:p>
            <a:pPr indent="0" marL="0">
              <a:buNone/>
            </a:pPr>
            <a:r>
              <a:rPr lang="en-US" sz="1500" b="1" dirty="0">
                <a:solidFill>
                  <a:srgbClr val="1C7293"/>
                </a:solidFill>
                <a:latin typeface="Courier New" pitchFamily="34" charset="0"/>
                <a:ea typeface="Courier New" pitchFamily="34" charset="-122"/>
                <a:cs typeface="Courier New" pitchFamily="34" charset="-120"/>
              </a:rPr>
              <a:t>env:</a:t>
            </a:r>
            <a:endParaRPr lang="en-US" sz="1500" dirty="0"/>
          </a:p>
        </p:txBody>
      </p:sp>
      <p:sp>
        <p:nvSpPr>
          <p:cNvPr id="13" name="Text 11"/>
          <p:cNvSpPr/>
          <p:nvPr/>
        </p:nvSpPr>
        <p:spPr>
          <a:xfrm>
            <a:off x="2286000" y="3063240"/>
            <a:ext cx="3200400" cy="384048"/>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WHAT should it work on?</a:t>
            </a:r>
            <a:endParaRPr lang="en-US" sz="1800" dirty="0"/>
          </a:p>
        </p:txBody>
      </p:sp>
      <p:sp>
        <p:nvSpPr>
          <p:cNvPr id="14" name="Text 12"/>
          <p:cNvSpPr/>
          <p:nvPr/>
        </p:nvSpPr>
        <p:spPr>
          <a:xfrm>
            <a:off x="2286000" y="3447288"/>
            <a:ext cx="8954719" cy="384048"/>
          </a:xfrm>
          <a:prstGeom prst="rect">
            <a:avLst/>
          </a:prstGeom>
          <a:noFill/>
          <a:ln/>
        </p:spPr>
        <p:txBody>
          <a:bodyPr wrap="square" lIns="0" tIns="0" rIns="0" bIns="0" rtlCol="0" anchor="ctr"/>
          <a:lstStyle/>
          <a:p>
            <a:pPr indent="0" marL="0">
              <a:buNone/>
            </a:pPr>
            <a:r>
              <a:rPr lang="en-US" sz="1400" dirty="0">
                <a:solidFill>
                  <a:srgbClr val="5D6B7A"/>
                </a:solidFill>
                <a:latin typeface="Calibri" pitchFamily="34" charset="0"/>
                <a:ea typeface="Calibri" pitchFamily="34" charset="-122"/>
                <a:cs typeface="Calibri" pitchFamily="34" charset="-120"/>
              </a:rPr>
              <a:t>Settings the steps read. Your folder name goes here.</a:t>
            </a:r>
            <a:endParaRPr lang="en-US" sz="1400" dirty="0"/>
          </a:p>
        </p:txBody>
      </p:sp>
      <p:sp>
        <p:nvSpPr>
          <p:cNvPr id="15" name="Shape 13"/>
          <p:cNvSpPr/>
          <p:nvPr/>
        </p:nvSpPr>
        <p:spPr>
          <a:xfrm>
            <a:off x="566928" y="4105656"/>
            <a:ext cx="11057839" cy="1051560"/>
          </a:xfrm>
          <a:prstGeom prst="roundRect">
            <a:avLst>
              <a:gd name="adj" fmla="val 7826"/>
            </a:avLst>
          </a:prstGeom>
          <a:solidFill>
            <a:srgbClr val="F6F9FB"/>
          </a:solidFill>
          <a:ln/>
        </p:spPr>
      </p:sp>
      <p:sp>
        <p:nvSpPr>
          <p:cNvPr id="16" name="Shape 14"/>
          <p:cNvSpPr/>
          <p:nvPr/>
        </p:nvSpPr>
        <p:spPr>
          <a:xfrm>
            <a:off x="841248" y="4416552"/>
            <a:ext cx="1234440" cy="420624"/>
          </a:xfrm>
          <a:prstGeom prst="roundRect">
            <a:avLst>
              <a:gd name="adj" fmla="val 13043"/>
            </a:avLst>
          </a:prstGeom>
          <a:solidFill>
            <a:srgbClr val="FFFFFF"/>
          </a:solidFill>
          <a:ln/>
        </p:spPr>
      </p:sp>
      <p:sp>
        <p:nvSpPr>
          <p:cNvPr id="17" name="Text 15"/>
          <p:cNvSpPr/>
          <p:nvPr/>
        </p:nvSpPr>
        <p:spPr>
          <a:xfrm>
            <a:off x="969264" y="4416552"/>
            <a:ext cx="978408" cy="420624"/>
          </a:xfrm>
          <a:prstGeom prst="rect">
            <a:avLst/>
          </a:prstGeom>
          <a:noFill/>
          <a:ln/>
        </p:spPr>
        <p:txBody>
          <a:bodyPr wrap="square" lIns="0" tIns="0" rIns="0" bIns="0" rtlCol="0" anchor="ctr"/>
          <a:lstStyle/>
          <a:p>
            <a:pPr indent="0" marL="0">
              <a:buNone/>
            </a:pPr>
            <a:r>
              <a:rPr lang="en-US" sz="1500" b="1" dirty="0">
                <a:solidFill>
                  <a:srgbClr val="5D6B7A"/>
                </a:solidFill>
                <a:latin typeface="Courier New" pitchFamily="34" charset="0"/>
                <a:ea typeface="Courier New" pitchFamily="34" charset="-122"/>
                <a:cs typeface="Courier New" pitchFamily="34" charset="-120"/>
              </a:rPr>
              <a:t>jobs:</a:t>
            </a:r>
            <a:endParaRPr lang="en-US" sz="1500" dirty="0"/>
          </a:p>
        </p:txBody>
      </p:sp>
      <p:sp>
        <p:nvSpPr>
          <p:cNvPr id="18" name="Text 16"/>
          <p:cNvSpPr/>
          <p:nvPr/>
        </p:nvSpPr>
        <p:spPr>
          <a:xfrm>
            <a:off x="2286000" y="4270248"/>
            <a:ext cx="3200400" cy="384048"/>
          </a:xfrm>
          <a:prstGeom prst="rect">
            <a:avLst/>
          </a:prstGeom>
          <a:noFill/>
          <a:ln/>
        </p:spPr>
        <p:txBody>
          <a:bodyPr wrap="square" lIns="0" tIns="0" rIns="0" bIns="0" rtlCol="0" anchor="ctr"/>
          <a:lstStyle/>
          <a:p>
            <a:pPr indent="0" marL="0">
              <a:buNone/>
            </a:pPr>
            <a:r>
              <a:rPr lang="en-US" sz="1800" b="1" dirty="0">
                <a:solidFill>
                  <a:srgbClr val="18222E"/>
                </a:solidFill>
                <a:latin typeface="Cambria" pitchFamily="34" charset="0"/>
                <a:ea typeface="Cambria" pitchFamily="34" charset="-122"/>
                <a:cs typeface="Cambria" pitchFamily="34" charset="-120"/>
              </a:rPr>
              <a:t>HOW should it do it?</a:t>
            </a:r>
            <a:endParaRPr lang="en-US" sz="1800" dirty="0"/>
          </a:p>
        </p:txBody>
      </p:sp>
      <p:sp>
        <p:nvSpPr>
          <p:cNvPr id="19" name="Text 17"/>
          <p:cNvSpPr/>
          <p:nvPr/>
        </p:nvSpPr>
        <p:spPr>
          <a:xfrm>
            <a:off x="2286000" y="4654296"/>
            <a:ext cx="8954719" cy="384048"/>
          </a:xfrm>
          <a:prstGeom prst="rect">
            <a:avLst/>
          </a:prstGeom>
          <a:noFill/>
          <a:ln/>
        </p:spPr>
        <p:txBody>
          <a:bodyPr wrap="square" lIns="0" tIns="0" rIns="0" bIns="0" rtlCol="0" anchor="ctr"/>
          <a:lstStyle/>
          <a:p>
            <a:pPr indent="0" marL="0">
              <a:buNone/>
            </a:pPr>
            <a:r>
              <a:rPr lang="en-US" sz="1400" dirty="0">
                <a:solidFill>
                  <a:srgbClr val="5D6B7A"/>
                </a:solidFill>
                <a:latin typeface="Calibri" pitchFamily="34" charset="0"/>
                <a:ea typeface="Calibri" pitchFamily="34" charset="-122"/>
                <a:cs typeface="Calibri" pitchFamily="34" charset="-120"/>
              </a:rPr>
              <a:t>The actual checklist of commands. Written for you — leave it alone today.</a:t>
            </a:r>
            <a:endParaRPr lang="en-US" sz="1400" dirty="0"/>
          </a:p>
        </p:txBody>
      </p:sp>
      <p:sp>
        <p:nvSpPr>
          <p:cNvPr id="20" name="Text 18"/>
          <p:cNvSpPr/>
          <p:nvPr/>
        </p:nvSpPr>
        <p:spPr>
          <a:xfrm>
            <a:off x="566928" y="5349240"/>
            <a:ext cx="11057839" cy="365760"/>
          </a:xfrm>
          <a:prstGeom prst="rect">
            <a:avLst/>
          </a:prstGeom>
          <a:noFill/>
          <a:ln/>
        </p:spPr>
        <p:txBody>
          <a:bodyPr wrap="square" lIns="0" tIns="0" rIns="0" bIns="0" rtlCol="0" anchor="ctr"/>
          <a:lstStyle/>
          <a:p>
            <a:pPr indent="0" marL="0">
              <a:buNone/>
            </a:pPr>
            <a:r>
              <a:rPr lang="en-US" sz="1400" i="1" dirty="0">
                <a:solidFill>
                  <a:srgbClr val="065A82"/>
                </a:solidFill>
                <a:latin typeface="Calibri" pitchFamily="34" charset="0"/>
                <a:ea typeface="Calibri" pitchFamily="34" charset="-122"/>
                <a:cs typeface="Calibri" pitchFamily="34" charset="-120"/>
              </a:rPr>
              <a:t>It is a plain text file called deploy-to-azure.yml. Nothing is hidden — you can read the whole thing.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The one idea worth remembering</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These are two different mechanisms that happen to need the same value.</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7</a:t>
            </a:r>
            <a:endParaRPr lang="en-US" sz="1000" dirty="0"/>
          </a:p>
        </p:txBody>
      </p:sp>
      <p:sp>
        <p:nvSpPr>
          <p:cNvPr id="5" name="Shape 3"/>
          <p:cNvSpPr/>
          <p:nvPr/>
        </p:nvSpPr>
        <p:spPr>
          <a:xfrm>
            <a:off x="566928" y="1600200"/>
            <a:ext cx="5394960" cy="3429000"/>
          </a:xfrm>
          <a:prstGeom prst="roundRect">
            <a:avLst>
              <a:gd name="adj" fmla="val 2400"/>
            </a:avLst>
          </a:prstGeom>
          <a:solidFill>
            <a:srgbClr val="EDF3F7"/>
          </a:solidFill>
          <a:ln/>
        </p:spPr>
      </p:sp>
      <p:sp>
        <p:nvSpPr>
          <p:cNvPr id="6" name="Text 4"/>
          <p:cNvSpPr/>
          <p:nvPr/>
        </p:nvSpPr>
        <p:spPr>
          <a:xfrm>
            <a:off x="896112" y="1810512"/>
            <a:ext cx="4736592" cy="384048"/>
          </a:xfrm>
          <a:prstGeom prst="rect">
            <a:avLst/>
          </a:prstGeom>
          <a:noFill/>
          <a:ln/>
        </p:spPr>
        <p:txBody>
          <a:bodyPr wrap="square" lIns="0" tIns="0" rIns="0" bIns="0"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The gate</a:t>
            </a:r>
            <a:endParaRPr lang="en-US" sz="1250" dirty="0"/>
          </a:p>
        </p:txBody>
      </p:sp>
      <p:sp>
        <p:nvSpPr>
          <p:cNvPr id="7" name="Shape 5"/>
          <p:cNvSpPr/>
          <p:nvPr/>
        </p:nvSpPr>
        <p:spPr>
          <a:xfrm>
            <a:off x="896112" y="2231136"/>
            <a:ext cx="2286000" cy="420624"/>
          </a:xfrm>
          <a:prstGeom prst="roundRect">
            <a:avLst>
              <a:gd name="adj" fmla="val 13043"/>
            </a:avLst>
          </a:prstGeom>
          <a:solidFill>
            <a:srgbClr val="FFFFFF"/>
          </a:solidFill>
          <a:ln/>
        </p:spPr>
      </p:sp>
      <p:sp>
        <p:nvSpPr>
          <p:cNvPr id="8" name="Text 6"/>
          <p:cNvSpPr/>
          <p:nvPr/>
        </p:nvSpPr>
        <p:spPr>
          <a:xfrm>
            <a:off x="1024128" y="2231136"/>
            <a:ext cx="2029968" cy="420624"/>
          </a:xfrm>
          <a:prstGeom prst="rect">
            <a:avLst/>
          </a:prstGeom>
          <a:noFill/>
          <a:ln/>
        </p:spPr>
        <p:txBody>
          <a:bodyPr wrap="square" lIns="0" tIns="0" rIns="0" bIns="0" rtlCol="0" anchor="ctr"/>
          <a:lstStyle/>
          <a:p>
            <a:pPr indent="0" marL="0">
              <a:buNone/>
            </a:pPr>
            <a:r>
              <a:rPr lang="en-US" sz="1500" b="1" dirty="0">
                <a:solidFill>
                  <a:srgbClr val="065A82"/>
                </a:solidFill>
                <a:latin typeface="Courier New" pitchFamily="34" charset="0"/>
                <a:ea typeface="Courier New" pitchFamily="34" charset="-122"/>
                <a:cs typeface="Courier New" pitchFamily="34" charset="-120"/>
              </a:rPr>
              <a:t>paths:</a:t>
            </a:r>
            <a:endParaRPr lang="en-US" sz="1500" dirty="0"/>
          </a:p>
        </p:txBody>
      </p:sp>
      <p:sp>
        <p:nvSpPr>
          <p:cNvPr id="9" name="Text 7"/>
          <p:cNvSpPr/>
          <p:nvPr/>
        </p:nvSpPr>
        <p:spPr>
          <a:xfrm>
            <a:off x="896112" y="2798064"/>
            <a:ext cx="4736592" cy="411480"/>
          </a:xfrm>
          <a:prstGeom prst="rect">
            <a:avLst/>
          </a:prstGeom>
          <a:noFill/>
          <a:ln/>
        </p:spPr>
        <p:txBody>
          <a:bodyPr wrap="square" lIns="0" tIns="0" rIns="0" bIns="0" rtlCol="0" anchor="ctr"/>
          <a:lstStyle/>
          <a:p>
            <a:pPr indent="0" marL="0">
              <a:buNone/>
            </a:pPr>
            <a:r>
              <a:rPr lang="en-US" sz="1800" b="1" dirty="0">
                <a:solidFill>
                  <a:srgbClr val="18222E"/>
                </a:solidFill>
                <a:latin typeface="Cambria" pitchFamily="34" charset="0"/>
                <a:ea typeface="Cambria" pitchFamily="34" charset="-122"/>
                <a:cs typeface="Cambria" pitchFamily="34" charset="-120"/>
              </a:rPr>
              <a:t>Decides whether the run happens at all.</a:t>
            </a:r>
            <a:endParaRPr lang="en-US" sz="1800" dirty="0"/>
          </a:p>
        </p:txBody>
      </p:sp>
      <p:sp>
        <p:nvSpPr>
          <p:cNvPr id="10" name="Text 8"/>
          <p:cNvSpPr/>
          <p:nvPr/>
        </p:nvSpPr>
        <p:spPr>
          <a:xfrm>
            <a:off x="896112" y="3246120"/>
            <a:ext cx="4736592" cy="1463040"/>
          </a:xfrm>
          <a:prstGeom prst="rect">
            <a:avLst/>
          </a:prstGeom>
          <a:noFill/>
          <a:ln/>
        </p:spPr>
        <p:txBody>
          <a:bodyPr wrap="square" lIns="0" tIns="0" rIns="0" bIns="0" rtlCol="0" anchor="t"/>
          <a:lstStyle/>
          <a:p>
            <a:pPr indent="0" marL="0">
              <a:lnSpc>
                <a:spcPts val="2100"/>
              </a:lnSpc>
              <a:buNone/>
            </a:pPr>
            <a:r>
              <a:rPr lang="en-US" sz="1450" dirty="0">
                <a:solidFill>
                  <a:srgbClr val="5D6B7A"/>
                </a:solidFill>
                <a:latin typeface="Calibri" pitchFamily="34" charset="0"/>
                <a:ea typeface="Calibri" pitchFamily="34" charset="-122"/>
                <a:cs typeface="Calibri" pitchFamily="34" charset="-120"/>
              </a:rPr>
              <a:t>Checked before anything starts. If your change is not inside the folder listed here, GitHub does nothing — no run, no log, no failure. Silence is the correct answer.</a:t>
            </a:r>
            <a:endParaRPr lang="en-US" sz="1450" dirty="0"/>
          </a:p>
        </p:txBody>
      </p:sp>
      <p:sp>
        <p:nvSpPr>
          <p:cNvPr id="11" name="Shape 9"/>
          <p:cNvSpPr/>
          <p:nvPr/>
        </p:nvSpPr>
        <p:spPr>
          <a:xfrm>
            <a:off x="6263640" y="1600200"/>
            <a:ext cx="5394960" cy="3429000"/>
          </a:xfrm>
          <a:prstGeom prst="roundRect">
            <a:avLst>
              <a:gd name="adj" fmla="val 2400"/>
            </a:avLst>
          </a:prstGeom>
          <a:solidFill>
            <a:srgbClr val="EDF3F7"/>
          </a:solidFill>
          <a:ln/>
        </p:spPr>
      </p:sp>
      <p:sp>
        <p:nvSpPr>
          <p:cNvPr id="12" name="Text 10"/>
          <p:cNvSpPr/>
          <p:nvPr/>
        </p:nvSpPr>
        <p:spPr>
          <a:xfrm>
            <a:off x="6592824" y="1810512"/>
            <a:ext cx="4736592" cy="384048"/>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The instruction</a:t>
            </a:r>
            <a:endParaRPr lang="en-US" sz="1250" dirty="0"/>
          </a:p>
        </p:txBody>
      </p:sp>
      <p:sp>
        <p:nvSpPr>
          <p:cNvPr id="13" name="Shape 11"/>
          <p:cNvSpPr/>
          <p:nvPr/>
        </p:nvSpPr>
        <p:spPr>
          <a:xfrm>
            <a:off x="6592824" y="2231136"/>
            <a:ext cx="2286000" cy="420624"/>
          </a:xfrm>
          <a:prstGeom prst="roundRect">
            <a:avLst>
              <a:gd name="adj" fmla="val 13043"/>
            </a:avLst>
          </a:prstGeom>
          <a:solidFill>
            <a:srgbClr val="FFFFFF"/>
          </a:solidFill>
          <a:ln/>
        </p:spPr>
      </p:sp>
      <p:sp>
        <p:nvSpPr>
          <p:cNvPr id="14" name="Text 12"/>
          <p:cNvSpPr/>
          <p:nvPr/>
        </p:nvSpPr>
        <p:spPr>
          <a:xfrm>
            <a:off x="6720840" y="2231136"/>
            <a:ext cx="2029968" cy="420624"/>
          </a:xfrm>
          <a:prstGeom prst="rect">
            <a:avLst/>
          </a:prstGeom>
          <a:noFill/>
          <a:ln/>
        </p:spPr>
        <p:txBody>
          <a:bodyPr wrap="square" lIns="0" tIns="0" rIns="0" bIns="0" rtlCol="0" anchor="ctr"/>
          <a:lstStyle/>
          <a:p>
            <a:pPr indent="0" marL="0">
              <a:buNone/>
            </a:pPr>
            <a:r>
              <a:rPr lang="en-US" sz="1400" b="1" dirty="0">
                <a:solidFill>
                  <a:srgbClr val="065A82"/>
                </a:solidFill>
                <a:latin typeface="Courier New" pitchFamily="34" charset="0"/>
                <a:ea typeface="Courier New" pitchFamily="34" charset="-122"/>
                <a:cs typeface="Courier New" pitchFamily="34" charset="-120"/>
              </a:rPr>
              <a:t>SITE_FOLDER</a:t>
            </a:r>
            <a:endParaRPr lang="en-US" sz="1400" dirty="0"/>
          </a:p>
        </p:txBody>
      </p:sp>
      <p:sp>
        <p:nvSpPr>
          <p:cNvPr id="15" name="Text 13"/>
          <p:cNvSpPr/>
          <p:nvPr/>
        </p:nvSpPr>
        <p:spPr>
          <a:xfrm>
            <a:off x="6592824" y="2798064"/>
            <a:ext cx="4736592" cy="411480"/>
          </a:xfrm>
          <a:prstGeom prst="rect">
            <a:avLst/>
          </a:prstGeom>
          <a:noFill/>
          <a:ln/>
        </p:spPr>
        <p:txBody>
          <a:bodyPr wrap="square" lIns="0" tIns="0" rIns="0" bIns="0" rtlCol="0" anchor="ctr"/>
          <a:lstStyle/>
          <a:p>
            <a:pPr indent="0" marL="0">
              <a:buNone/>
            </a:pPr>
            <a:r>
              <a:rPr lang="en-US" sz="1800" b="1" dirty="0">
                <a:solidFill>
                  <a:srgbClr val="18222E"/>
                </a:solidFill>
                <a:latin typeface="Cambria" pitchFamily="34" charset="0"/>
                <a:ea typeface="Cambria" pitchFamily="34" charset="-122"/>
                <a:cs typeface="Cambria" pitchFamily="34" charset="-120"/>
              </a:rPr>
              <a:t>Decides what gets uploaded.</a:t>
            </a:r>
            <a:endParaRPr lang="en-US" sz="1800" dirty="0"/>
          </a:p>
        </p:txBody>
      </p:sp>
      <p:sp>
        <p:nvSpPr>
          <p:cNvPr id="16" name="Text 14"/>
          <p:cNvSpPr/>
          <p:nvPr/>
        </p:nvSpPr>
        <p:spPr>
          <a:xfrm>
            <a:off x="6592824" y="3246120"/>
            <a:ext cx="4736592" cy="1463040"/>
          </a:xfrm>
          <a:prstGeom prst="rect">
            <a:avLst/>
          </a:prstGeom>
          <a:noFill/>
          <a:ln/>
        </p:spPr>
        <p:txBody>
          <a:bodyPr wrap="square" lIns="0" tIns="0" rIns="0" bIns="0" rtlCol="0" anchor="t"/>
          <a:lstStyle/>
          <a:p>
            <a:pPr indent="0" marL="0">
              <a:lnSpc>
                <a:spcPts val="2100"/>
              </a:lnSpc>
              <a:buNone/>
            </a:pPr>
            <a:r>
              <a:rPr lang="en-US" sz="1450" dirty="0">
                <a:solidFill>
                  <a:srgbClr val="5D6B7A"/>
                </a:solidFill>
                <a:latin typeface="Calibri" pitchFamily="34" charset="0"/>
                <a:ea typeface="Calibri" pitchFamily="34" charset="-122"/>
                <a:cs typeface="Calibri" pitchFamily="34" charset="-120"/>
              </a:rPr>
              <a:t>Read after the run has already started. This is the folder the steps will actually copy to Azure.</a:t>
            </a:r>
            <a:endParaRPr lang="en-US" sz="1450" dirty="0"/>
          </a:p>
        </p:txBody>
      </p:sp>
      <p:sp>
        <p:nvSpPr>
          <p:cNvPr id="17" name="Shape 15"/>
          <p:cNvSpPr/>
          <p:nvPr/>
        </p:nvSpPr>
        <p:spPr>
          <a:xfrm>
            <a:off x="566928" y="5358384"/>
            <a:ext cx="11057839" cy="658368"/>
          </a:xfrm>
          <a:prstGeom prst="roundRect">
            <a:avLst>
              <a:gd name="adj" fmla="val 12500"/>
            </a:avLst>
          </a:prstGeom>
          <a:solidFill>
            <a:srgbClr val="FFF4DC"/>
          </a:solidFill>
          <a:ln/>
        </p:spPr>
      </p:sp>
      <p:sp>
        <p:nvSpPr>
          <p:cNvPr id="18" name="Text 16"/>
          <p:cNvSpPr/>
          <p:nvPr/>
        </p:nvSpPr>
        <p:spPr>
          <a:xfrm>
            <a:off x="859536" y="5358384"/>
            <a:ext cx="10472623" cy="658368"/>
          </a:xfrm>
          <a:prstGeom prst="rect">
            <a:avLst/>
          </a:prstGeom>
          <a:noFill/>
          <a:ln/>
        </p:spPr>
        <p:txBody>
          <a:bodyPr wrap="square" lIns="0" tIns="0" rIns="0" bIns="0" rtlCol="0" anchor="ctr"/>
          <a:lstStyle/>
          <a:p>
            <a:pPr indent="0" marL="0">
              <a:buNone/>
            </a:pPr>
            <a:r>
              <a:rPr lang="en-US" sz="1400" b="1" dirty="0">
                <a:solidFill>
                  <a:srgbClr val="7A5410"/>
                </a:solidFill>
                <a:latin typeface="Calibri" pitchFamily="34" charset="0"/>
                <a:ea typeface="Calibri" pitchFamily="34" charset="-122"/>
                <a:cs typeface="Calibri" pitchFamily="34" charset="-120"/>
              </a:rPr>
              <a:t>Change one and forget the other, and the workflow tells you so in plain English. Expect to do this at least once — most people do.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The only two things you change</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Both are marked in the file. Search for “EDIT ME”.</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8</a:t>
            </a:r>
            <a:endParaRPr lang="en-US" sz="1000" dirty="0"/>
          </a:p>
        </p:txBody>
      </p:sp>
      <p:sp>
        <p:nvSpPr>
          <p:cNvPr id="5" name="Shape 3"/>
          <p:cNvSpPr/>
          <p:nvPr/>
        </p:nvSpPr>
        <p:spPr>
          <a:xfrm>
            <a:off x="566928" y="1600200"/>
            <a:ext cx="5394960" cy="3291840"/>
          </a:xfrm>
          <a:prstGeom prst="roundRect">
            <a:avLst>
              <a:gd name="adj" fmla="val 2500"/>
            </a:avLst>
          </a:prstGeom>
          <a:solidFill>
            <a:srgbClr val="F6F9FB"/>
          </a:solidFill>
          <a:ln/>
        </p:spPr>
      </p:sp>
      <p:sp>
        <p:nvSpPr>
          <p:cNvPr id="6" name="Text 4"/>
          <p:cNvSpPr/>
          <p:nvPr/>
        </p:nvSpPr>
        <p:spPr>
          <a:xfrm>
            <a:off x="877824" y="1792224"/>
            <a:ext cx="4773168" cy="310896"/>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EDIT 1 OF 2</a:t>
            </a:r>
            <a:endParaRPr lang="en-US" sz="1200" dirty="0"/>
          </a:p>
        </p:txBody>
      </p:sp>
      <p:sp>
        <p:nvSpPr>
          <p:cNvPr id="7" name="Text 5"/>
          <p:cNvSpPr/>
          <p:nvPr/>
        </p:nvSpPr>
        <p:spPr>
          <a:xfrm>
            <a:off x="877824" y="2103120"/>
            <a:ext cx="4773168" cy="310896"/>
          </a:xfrm>
          <a:prstGeom prst="rect">
            <a:avLst/>
          </a:prstGeom>
          <a:noFill/>
          <a:ln/>
        </p:spPr>
        <p:txBody>
          <a:bodyPr wrap="square" lIns="0" tIns="0" rIns="0" bIns="0" rtlCol="0" anchor="ctr"/>
          <a:lstStyle/>
          <a:p>
            <a:pPr indent="0" marL="0">
              <a:buNone/>
            </a:pPr>
            <a:r>
              <a:rPr lang="en-US" sz="1250" dirty="0">
                <a:solidFill>
                  <a:srgbClr val="5D6B7A"/>
                </a:solidFill>
                <a:latin typeface="Courier New" pitchFamily="34" charset="0"/>
                <a:ea typeface="Courier New" pitchFamily="34" charset="-122"/>
                <a:cs typeface="Courier New" pitchFamily="34" charset="-120"/>
              </a:rPr>
              <a:t>under  on: → push: → paths:</a:t>
            </a:r>
            <a:endParaRPr lang="en-US" sz="1250" dirty="0"/>
          </a:p>
        </p:txBody>
      </p:sp>
      <p:sp>
        <p:nvSpPr>
          <p:cNvPr id="8" name="Text 6"/>
          <p:cNvSpPr/>
          <p:nvPr/>
        </p:nvSpPr>
        <p:spPr>
          <a:xfrm>
            <a:off x="877824" y="2542032"/>
            <a:ext cx="1097280" cy="256032"/>
          </a:xfrm>
          <a:prstGeom prst="rect">
            <a:avLst/>
          </a:prstGeom>
          <a:noFill/>
          <a:ln/>
        </p:spPr>
        <p:txBody>
          <a:bodyPr wrap="square" lIns="0" tIns="0" rIns="0" bIns="0" rtlCol="0" anchor="ctr"/>
          <a:lstStyle/>
          <a:p>
            <a:pPr indent="0" marL="0">
              <a:buNone/>
            </a:pPr>
            <a:r>
              <a:rPr lang="en-US" sz="1050" b="1" spc="150" kern="0" dirty="0">
                <a:solidFill>
                  <a:srgbClr val="5D6B7A"/>
                </a:solidFill>
                <a:latin typeface="Calibri" pitchFamily="34" charset="0"/>
                <a:ea typeface="Calibri" pitchFamily="34" charset="-122"/>
                <a:cs typeface="Calibri" pitchFamily="34" charset="-120"/>
              </a:rPr>
              <a:t>FROM</a:t>
            </a:r>
            <a:endParaRPr lang="en-US" sz="1050" dirty="0"/>
          </a:p>
        </p:txBody>
      </p:sp>
      <p:sp>
        <p:nvSpPr>
          <p:cNvPr id="9" name="Shape 7"/>
          <p:cNvSpPr/>
          <p:nvPr/>
        </p:nvSpPr>
        <p:spPr>
          <a:xfrm>
            <a:off x="877824" y="2798064"/>
            <a:ext cx="4773168" cy="402336"/>
          </a:xfrm>
          <a:prstGeom prst="roundRect">
            <a:avLst>
              <a:gd name="adj" fmla="val 13636"/>
            </a:avLst>
          </a:prstGeom>
          <a:solidFill>
            <a:srgbClr val="E7EEF3"/>
          </a:solidFill>
          <a:ln/>
        </p:spPr>
      </p:sp>
      <p:sp>
        <p:nvSpPr>
          <p:cNvPr id="10" name="Text 8"/>
          <p:cNvSpPr/>
          <p:nvPr/>
        </p:nvSpPr>
        <p:spPr>
          <a:xfrm>
            <a:off x="1005840" y="2798064"/>
            <a:ext cx="4517136" cy="402336"/>
          </a:xfrm>
          <a:prstGeom prst="rect">
            <a:avLst/>
          </a:prstGeom>
          <a:noFill/>
          <a:ln/>
        </p:spPr>
        <p:txBody>
          <a:bodyPr wrap="square" lIns="0" tIns="0" rIns="0" bIns="0" rtlCol="0" anchor="ctr"/>
          <a:lstStyle/>
          <a:p>
            <a:pPr indent="0" marL="0">
              <a:buNone/>
            </a:pPr>
            <a:r>
              <a:rPr lang="en-US" sz="1350" dirty="0">
                <a:solidFill>
                  <a:srgbClr val="5D6B7A"/>
                </a:solidFill>
                <a:latin typeface="Courier New" pitchFamily="34" charset="0"/>
                <a:ea typeface="Courier New" pitchFamily="34" charset="-122"/>
                <a:cs typeface="Courier New" pitchFamily="34" charset="-120"/>
              </a:rPr>
              <a:t>- 'site-sample/**'</a:t>
            </a:r>
            <a:endParaRPr lang="en-US" sz="1350" dirty="0"/>
          </a:p>
        </p:txBody>
      </p:sp>
      <p:sp>
        <p:nvSpPr>
          <p:cNvPr id="11" name="Text 9"/>
          <p:cNvSpPr/>
          <p:nvPr/>
        </p:nvSpPr>
        <p:spPr>
          <a:xfrm>
            <a:off x="877824" y="3346704"/>
            <a:ext cx="1097280" cy="256032"/>
          </a:xfrm>
          <a:prstGeom prst="rect">
            <a:avLst/>
          </a:prstGeom>
          <a:noFill/>
          <a:ln/>
        </p:spPr>
        <p:txBody>
          <a:bodyPr wrap="square" lIns="0" tIns="0" rIns="0" bIns="0" rtlCol="0" anchor="ctr"/>
          <a:lstStyle/>
          <a:p>
            <a:pPr indent="0" marL="0">
              <a:buNone/>
            </a:pPr>
            <a:r>
              <a:rPr lang="en-US" sz="1050" b="1" spc="150" kern="0" dirty="0">
                <a:solidFill>
                  <a:srgbClr val="065A82"/>
                </a:solidFill>
                <a:latin typeface="Calibri" pitchFamily="34" charset="0"/>
                <a:ea typeface="Calibri" pitchFamily="34" charset="-122"/>
                <a:cs typeface="Calibri" pitchFamily="34" charset="-120"/>
              </a:rPr>
              <a:t>TO</a:t>
            </a:r>
            <a:endParaRPr lang="en-US" sz="1050" dirty="0"/>
          </a:p>
        </p:txBody>
      </p:sp>
      <p:sp>
        <p:nvSpPr>
          <p:cNvPr id="12" name="Shape 10"/>
          <p:cNvSpPr/>
          <p:nvPr/>
        </p:nvSpPr>
        <p:spPr>
          <a:xfrm>
            <a:off x="877824" y="3602736"/>
            <a:ext cx="4773168" cy="402336"/>
          </a:xfrm>
          <a:prstGeom prst="roundRect">
            <a:avLst>
              <a:gd name="adj" fmla="val 13636"/>
            </a:avLst>
          </a:prstGeom>
          <a:solidFill>
            <a:srgbClr val="DCEAF3"/>
          </a:solidFill>
          <a:ln/>
        </p:spPr>
      </p:sp>
      <p:sp>
        <p:nvSpPr>
          <p:cNvPr id="13" name="Text 11"/>
          <p:cNvSpPr/>
          <p:nvPr/>
        </p:nvSpPr>
        <p:spPr>
          <a:xfrm>
            <a:off x="1005840" y="3602736"/>
            <a:ext cx="4517136" cy="402336"/>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 'site-jason/**'</a:t>
            </a:r>
            <a:endParaRPr lang="en-US" sz="1350" dirty="0"/>
          </a:p>
        </p:txBody>
      </p:sp>
      <p:sp>
        <p:nvSpPr>
          <p:cNvPr id="14" name="Text 12"/>
          <p:cNvSpPr/>
          <p:nvPr/>
        </p:nvSpPr>
        <p:spPr>
          <a:xfrm>
            <a:off x="877824" y="4169664"/>
            <a:ext cx="4773168" cy="54864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Keep the quotes and the /** on the end.</a:t>
            </a:r>
            <a:endParaRPr lang="en-US" sz="1350" dirty="0"/>
          </a:p>
        </p:txBody>
      </p:sp>
      <p:sp>
        <p:nvSpPr>
          <p:cNvPr id="15" name="Shape 13"/>
          <p:cNvSpPr/>
          <p:nvPr/>
        </p:nvSpPr>
        <p:spPr>
          <a:xfrm>
            <a:off x="6263640" y="1600200"/>
            <a:ext cx="5394960" cy="3291840"/>
          </a:xfrm>
          <a:prstGeom prst="roundRect">
            <a:avLst>
              <a:gd name="adj" fmla="val 2500"/>
            </a:avLst>
          </a:prstGeom>
          <a:solidFill>
            <a:srgbClr val="F6F9FB"/>
          </a:solidFill>
          <a:ln/>
        </p:spPr>
      </p:sp>
      <p:sp>
        <p:nvSpPr>
          <p:cNvPr id="16" name="Text 14"/>
          <p:cNvSpPr/>
          <p:nvPr/>
        </p:nvSpPr>
        <p:spPr>
          <a:xfrm>
            <a:off x="6574536" y="1792224"/>
            <a:ext cx="4773168" cy="310896"/>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EDIT 2 OF 2</a:t>
            </a:r>
            <a:endParaRPr lang="en-US" sz="1200" dirty="0"/>
          </a:p>
        </p:txBody>
      </p:sp>
      <p:sp>
        <p:nvSpPr>
          <p:cNvPr id="17" name="Text 15"/>
          <p:cNvSpPr/>
          <p:nvPr/>
        </p:nvSpPr>
        <p:spPr>
          <a:xfrm>
            <a:off x="6574536" y="2103120"/>
            <a:ext cx="4773168" cy="310896"/>
          </a:xfrm>
          <a:prstGeom prst="rect">
            <a:avLst/>
          </a:prstGeom>
          <a:noFill/>
          <a:ln/>
        </p:spPr>
        <p:txBody>
          <a:bodyPr wrap="square" lIns="0" tIns="0" rIns="0" bIns="0" rtlCol="0" anchor="ctr"/>
          <a:lstStyle/>
          <a:p>
            <a:pPr indent="0" marL="0">
              <a:buNone/>
            </a:pPr>
            <a:r>
              <a:rPr lang="en-US" sz="1250" dirty="0">
                <a:solidFill>
                  <a:srgbClr val="5D6B7A"/>
                </a:solidFill>
                <a:latin typeface="Courier New" pitchFamily="34" charset="0"/>
                <a:ea typeface="Courier New" pitchFamily="34" charset="-122"/>
                <a:cs typeface="Courier New" pitchFamily="34" charset="-120"/>
              </a:rPr>
              <a:t>under  env:</a:t>
            </a:r>
            <a:endParaRPr lang="en-US" sz="1250" dirty="0"/>
          </a:p>
        </p:txBody>
      </p:sp>
      <p:sp>
        <p:nvSpPr>
          <p:cNvPr id="18" name="Text 16"/>
          <p:cNvSpPr/>
          <p:nvPr/>
        </p:nvSpPr>
        <p:spPr>
          <a:xfrm>
            <a:off x="6574536" y="2542032"/>
            <a:ext cx="1097280" cy="256032"/>
          </a:xfrm>
          <a:prstGeom prst="rect">
            <a:avLst/>
          </a:prstGeom>
          <a:noFill/>
          <a:ln/>
        </p:spPr>
        <p:txBody>
          <a:bodyPr wrap="square" lIns="0" tIns="0" rIns="0" bIns="0" rtlCol="0" anchor="ctr"/>
          <a:lstStyle/>
          <a:p>
            <a:pPr indent="0" marL="0">
              <a:buNone/>
            </a:pPr>
            <a:r>
              <a:rPr lang="en-US" sz="1050" b="1" spc="150" kern="0" dirty="0">
                <a:solidFill>
                  <a:srgbClr val="5D6B7A"/>
                </a:solidFill>
                <a:latin typeface="Calibri" pitchFamily="34" charset="0"/>
                <a:ea typeface="Calibri" pitchFamily="34" charset="-122"/>
                <a:cs typeface="Calibri" pitchFamily="34" charset="-120"/>
              </a:rPr>
              <a:t>FROM</a:t>
            </a:r>
            <a:endParaRPr lang="en-US" sz="1050" dirty="0"/>
          </a:p>
        </p:txBody>
      </p:sp>
      <p:sp>
        <p:nvSpPr>
          <p:cNvPr id="19" name="Shape 17"/>
          <p:cNvSpPr/>
          <p:nvPr/>
        </p:nvSpPr>
        <p:spPr>
          <a:xfrm>
            <a:off x="6574536" y="2798064"/>
            <a:ext cx="4773168" cy="402336"/>
          </a:xfrm>
          <a:prstGeom prst="roundRect">
            <a:avLst>
              <a:gd name="adj" fmla="val 13636"/>
            </a:avLst>
          </a:prstGeom>
          <a:solidFill>
            <a:srgbClr val="E7EEF3"/>
          </a:solidFill>
          <a:ln/>
        </p:spPr>
      </p:sp>
      <p:sp>
        <p:nvSpPr>
          <p:cNvPr id="20" name="Text 18"/>
          <p:cNvSpPr/>
          <p:nvPr/>
        </p:nvSpPr>
        <p:spPr>
          <a:xfrm>
            <a:off x="6702552" y="2798064"/>
            <a:ext cx="4517136" cy="402336"/>
          </a:xfrm>
          <a:prstGeom prst="rect">
            <a:avLst/>
          </a:prstGeom>
          <a:noFill/>
          <a:ln/>
        </p:spPr>
        <p:txBody>
          <a:bodyPr wrap="square" lIns="0" tIns="0" rIns="0" bIns="0" rtlCol="0" anchor="ctr"/>
          <a:lstStyle/>
          <a:p>
            <a:pPr indent="0" marL="0">
              <a:buNone/>
            </a:pPr>
            <a:r>
              <a:rPr lang="en-US" sz="1350" dirty="0">
                <a:solidFill>
                  <a:srgbClr val="5D6B7A"/>
                </a:solidFill>
                <a:latin typeface="Courier New" pitchFamily="34" charset="0"/>
                <a:ea typeface="Courier New" pitchFamily="34" charset="-122"/>
                <a:cs typeface="Courier New" pitchFamily="34" charset="-120"/>
              </a:rPr>
              <a:t>SITE_FOLDER: site-sample</a:t>
            </a:r>
            <a:endParaRPr lang="en-US" sz="1350" dirty="0"/>
          </a:p>
        </p:txBody>
      </p:sp>
      <p:sp>
        <p:nvSpPr>
          <p:cNvPr id="21" name="Text 19"/>
          <p:cNvSpPr/>
          <p:nvPr/>
        </p:nvSpPr>
        <p:spPr>
          <a:xfrm>
            <a:off x="6574536" y="3346704"/>
            <a:ext cx="1097280" cy="256032"/>
          </a:xfrm>
          <a:prstGeom prst="rect">
            <a:avLst/>
          </a:prstGeom>
          <a:noFill/>
          <a:ln/>
        </p:spPr>
        <p:txBody>
          <a:bodyPr wrap="square" lIns="0" tIns="0" rIns="0" bIns="0" rtlCol="0" anchor="ctr"/>
          <a:lstStyle/>
          <a:p>
            <a:pPr indent="0" marL="0">
              <a:buNone/>
            </a:pPr>
            <a:r>
              <a:rPr lang="en-US" sz="1050" b="1" spc="150" kern="0" dirty="0">
                <a:solidFill>
                  <a:srgbClr val="1C7293"/>
                </a:solidFill>
                <a:latin typeface="Calibri" pitchFamily="34" charset="0"/>
                <a:ea typeface="Calibri" pitchFamily="34" charset="-122"/>
                <a:cs typeface="Calibri" pitchFamily="34" charset="-120"/>
              </a:rPr>
              <a:t>TO</a:t>
            </a:r>
            <a:endParaRPr lang="en-US" sz="1050" dirty="0"/>
          </a:p>
        </p:txBody>
      </p:sp>
      <p:sp>
        <p:nvSpPr>
          <p:cNvPr id="22" name="Shape 20"/>
          <p:cNvSpPr/>
          <p:nvPr/>
        </p:nvSpPr>
        <p:spPr>
          <a:xfrm>
            <a:off x="6574536" y="3602736"/>
            <a:ext cx="4773168" cy="402336"/>
          </a:xfrm>
          <a:prstGeom prst="roundRect">
            <a:avLst>
              <a:gd name="adj" fmla="val 13636"/>
            </a:avLst>
          </a:prstGeom>
          <a:solidFill>
            <a:srgbClr val="DCEAF3"/>
          </a:solidFill>
          <a:ln/>
        </p:spPr>
      </p:sp>
      <p:sp>
        <p:nvSpPr>
          <p:cNvPr id="23" name="Text 21"/>
          <p:cNvSpPr/>
          <p:nvPr/>
        </p:nvSpPr>
        <p:spPr>
          <a:xfrm>
            <a:off x="6702552" y="3602736"/>
            <a:ext cx="4517136" cy="402336"/>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SITE_FOLDER: site-jason</a:t>
            </a:r>
            <a:endParaRPr lang="en-US" sz="1350" dirty="0"/>
          </a:p>
        </p:txBody>
      </p:sp>
      <p:sp>
        <p:nvSpPr>
          <p:cNvPr id="24" name="Text 22"/>
          <p:cNvSpPr/>
          <p:nvPr/>
        </p:nvSpPr>
        <p:spPr>
          <a:xfrm>
            <a:off x="6574536" y="4169664"/>
            <a:ext cx="4773168" cy="54864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No quotes, no /** here.</a:t>
            </a:r>
            <a:endParaRPr lang="en-US" sz="1350" dirty="0"/>
          </a:p>
        </p:txBody>
      </p:sp>
      <p:sp>
        <p:nvSpPr>
          <p:cNvPr id="25" name="Text 23"/>
          <p:cNvSpPr/>
          <p:nvPr/>
        </p:nvSpPr>
        <p:spPr>
          <a:xfrm>
            <a:off x="566928" y="5138928"/>
            <a:ext cx="11057839" cy="731520"/>
          </a:xfrm>
          <a:prstGeom prst="rect">
            <a:avLst/>
          </a:prstGeom>
          <a:noFill/>
          <a:ln/>
        </p:spPr>
        <p:txBody>
          <a:bodyPr wrap="square" lIns="0" tIns="0" rIns="0" bIns="0" rtlCol="0" anchor="ctr"/>
          <a:lstStyle/>
          <a:p>
            <a:pPr indent="0" marL="0">
              <a:buNone/>
            </a:pPr>
            <a:r>
              <a:rPr lang="en-US" sz="1500" b="1" dirty="0">
                <a:solidFill>
                  <a:srgbClr val="18222E"/>
                </a:solidFill>
                <a:latin typeface="Calibri" pitchFamily="34" charset="0"/>
                <a:ea typeface="Calibri" pitchFamily="34" charset="-122"/>
                <a:cs typeface="Calibri" pitchFamily="34" charset="-120"/>
              </a:rPr>
              <a:t>Replace site-sample with site- and your own GitHub username. Same spelling both times, including capital letters.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Where the password lives</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The workflow needs permission to write to Azure. That permission is not in the file.</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9</a:t>
            </a:r>
            <a:endParaRPr lang="en-US" sz="1000" dirty="0"/>
          </a:p>
        </p:txBody>
      </p:sp>
      <p:sp>
        <p:nvSpPr>
          <p:cNvPr id="5" name="Text 3"/>
          <p:cNvSpPr/>
          <p:nvPr/>
        </p:nvSpPr>
        <p:spPr>
          <a:xfrm>
            <a:off x="566928" y="1901952"/>
            <a:ext cx="5349240" cy="3017520"/>
          </a:xfrm>
          <a:prstGeom prst="rect">
            <a:avLst/>
          </a:prstGeom>
          <a:noFill/>
          <a:ln/>
        </p:spPr>
        <p:txBody>
          <a:bodyPr wrap="square" lIns="0" tIns="0" rIns="0" bIns="0" rtlCol="0" anchor="t"/>
          <a:lstStyle/>
          <a:p>
            <a:pPr indent="0" marL="0">
              <a:lnSpc>
                <a:spcPts val="2300"/>
              </a:lnSpc>
              <a:buNone/>
            </a:pPr>
            <a:r>
              <a:rPr lang="en-US" sz="1500" dirty="0">
                <a:solidFill>
                  <a:srgbClr val="18222E"/>
                </a:solidFill>
                <a:latin typeface="Calibri" pitchFamily="34" charset="0"/>
                <a:ea typeface="Calibri" pitchFamily="34" charset="-122"/>
                <a:cs typeface="Calibri" pitchFamily="34" charset="-120"/>
              </a:rPr>
              <a:t>The connection string is a password for the storage account. Anyone holding it can read and overwrite everything in it.</a:t>
            </a:r>
            <a:endParaRPr lang="en-US" sz="1500" dirty="0"/>
          </a:p>
          <a:p>
            <a:pPr indent="0" marL="0">
              <a:lnSpc>
                <a:spcPts val="2300"/>
              </a:lnSpc>
              <a:buNone/>
            </a:pPr>
            <a:endParaRPr lang="en-US" sz="1500" dirty="0"/>
          </a:p>
          <a:p>
            <a:pPr indent="0" marL="0">
              <a:lnSpc>
                <a:spcPts val="2300"/>
              </a:lnSpc>
              <a:buNone/>
            </a:pPr>
            <a:r>
              <a:rPr lang="en-US" sz="1500" dirty="0">
                <a:solidFill>
                  <a:srgbClr val="18222E"/>
                </a:solidFill>
                <a:latin typeface="Calibri" pitchFamily="34" charset="0"/>
                <a:ea typeface="Calibri" pitchFamily="34" charset="-122"/>
                <a:cs typeface="Calibri" pitchFamily="34" charset="-120"/>
              </a:rPr>
              <a:t>So it is stored in the repository's settings as a secret, not written into the workflow. The file just refers to it by name.</a:t>
            </a:r>
            <a:endParaRPr lang="en-US" sz="1500" dirty="0"/>
          </a:p>
          <a:p>
            <a:pPr indent="0" marL="0">
              <a:lnSpc>
                <a:spcPts val="2300"/>
              </a:lnSpc>
              <a:buNone/>
            </a:pPr>
            <a:endParaRPr lang="en-US" sz="1500" dirty="0"/>
          </a:p>
          <a:p>
            <a:pPr indent="0" marL="0">
              <a:lnSpc>
                <a:spcPts val="2300"/>
              </a:lnSpc>
              <a:buNone/>
            </a:pPr>
            <a:r>
              <a:rPr lang="en-US" sz="1500" dirty="0">
                <a:solidFill>
                  <a:srgbClr val="18222E"/>
                </a:solidFill>
                <a:latin typeface="Calibri" pitchFamily="34" charset="0"/>
                <a:ea typeface="Calibri" pitchFamily="34" charset="-122"/>
                <a:cs typeface="Calibri" pitchFamily="34" charset="-120"/>
              </a:rPr>
              <a:t>Once saved, nobody can read it back — not even the person who put it there. GitHub also blanks it out of the logs automatically.</a:t>
            </a:r>
            <a:endParaRPr lang="en-US" sz="1500" dirty="0"/>
          </a:p>
        </p:txBody>
      </p:sp>
      <p:sp>
        <p:nvSpPr>
          <p:cNvPr id="6" name="Text 4"/>
          <p:cNvSpPr/>
          <p:nvPr/>
        </p:nvSpPr>
        <p:spPr>
          <a:xfrm>
            <a:off x="566928" y="4892040"/>
            <a:ext cx="5349240" cy="548640"/>
          </a:xfrm>
          <a:prstGeom prst="rect">
            <a:avLst/>
          </a:prstGeom>
          <a:noFill/>
          <a:ln/>
        </p:spPr>
        <p:txBody>
          <a:bodyPr wrap="square" lIns="0" tIns="0" rIns="0" bIns="0" rtlCol="0" anchor="ctr"/>
          <a:lstStyle/>
          <a:p>
            <a:pPr indent="0" marL="0">
              <a:buNone/>
            </a:pPr>
            <a:r>
              <a:rPr lang="en-US" sz="1450" b="1" i="1" dirty="0">
                <a:solidFill>
                  <a:srgbClr val="065A82"/>
                </a:solidFill>
                <a:latin typeface="Calibri" pitchFamily="34" charset="0"/>
                <a:ea typeface="Calibri" pitchFamily="34" charset="-122"/>
                <a:cs typeface="Calibri" pitchFamily="34" charset="-120"/>
              </a:rPr>
              <a:t>It is already set up for you today. You will never see it or type it.</a:t>
            </a:r>
            <a:endParaRPr lang="en-US" sz="1450" dirty="0"/>
          </a:p>
        </p:txBody>
      </p:sp>
      <p:sp>
        <p:nvSpPr>
          <p:cNvPr id="7" name="Shape 5"/>
          <p:cNvSpPr/>
          <p:nvPr/>
        </p:nvSpPr>
        <p:spPr>
          <a:xfrm>
            <a:off x="6272784" y="1691640"/>
            <a:ext cx="5351983" cy="3611880"/>
          </a:xfrm>
          <a:prstGeom prst="roundRect">
            <a:avLst>
              <a:gd name="adj" fmla="val 2278"/>
            </a:avLst>
          </a:prstGeom>
          <a:solidFill>
            <a:srgbClr val="1B2547"/>
          </a:solidFill>
          <a:ln/>
        </p:spPr>
      </p:sp>
      <p:sp>
        <p:nvSpPr>
          <p:cNvPr id="8" name="Text 6"/>
          <p:cNvSpPr/>
          <p:nvPr/>
        </p:nvSpPr>
        <p:spPr>
          <a:xfrm>
            <a:off x="6583680" y="1920240"/>
            <a:ext cx="4730191" cy="292608"/>
          </a:xfrm>
          <a:prstGeom prst="rect">
            <a:avLst/>
          </a:prstGeom>
          <a:noFill/>
          <a:ln/>
        </p:spPr>
        <p:txBody>
          <a:bodyPr wrap="square" lIns="0" tIns="0" rIns="0" bIns="0" rtlCol="0" anchor="ctr"/>
          <a:lstStyle/>
          <a:p>
            <a:pPr indent="0" marL="0">
              <a:buNone/>
            </a:pPr>
            <a:r>
              <a:rPr lang="en-US" sz="1100" b="1" spc="200" kern="0" dirty="0">
                <a:solidFill>
                  <a:srgbClr val="FFB627"/>
                </a:solidFill>
                <a:latin typeface="Calibri" pitchFamily="34" charset="0"/>
                <a:ea typeface="Calibri" pitchFamily="34" charset="-122"/>
                <a:cs typeface="Calibri" pitchFamily="34" charset="-120"/>
              </a:rPr>
              <a:t>HOW THE FILE REFERS TO IT</a:t>
            </a:r>
            <a:endParaRPr lang="en-US" sz="1100" dirty="0"/>
          </a:p>
        </p:txBody>
      </p:sp>
      <p:sp>
        <p:nvSpPr>
          <p:cNvPr id="9" name="Text 7"/>
          <p:cNvSpPr/>
          <p:nvPr/>
        </p:nvSpPr>
        <p:spPr>
          <a:xfrm>
            <a:off x="6583680" y="2286000"/>
            <a:ext cx="4730191" cy="1234440"/>
          </a:xfrm>
          <a:prstGeom prst="rect">
            <a:avLst/>
          </a:prstGeom>
          <a:noFill/>
          <a:ln/>
        </p:spPr>
        <p:txBody>
          <a:bodyPr wrap="square" lIns="0" tIns="0" rIns="0" bIns="0" rtlCol="0" anchor="t"/>
          <a:lstStyle/>
          <a:p>
            <a:pPr indent="0" marL="0">
              <a:lnSpc>
                <a:spcPts val="1900"/>
              </a:lnSpc>
              <a:buNone/>
            </a:pPr>
            <a:r>
              <a:rPr lang="en-US" sz="1100" dirty="0">
                <a:solidFill>
                  <a:srgbClr val="BFD4E8"/>
                </a:solidFill>
                <a:latin typeface="Courier New" pitchFamily="34" charset="0"/>
                <a:ea typeface="Courier New" pitchFamily="34" charset="-122"/>
                <a:cs typeface="Courier New" pitchFamily="34" charset="-120"/>
              </a:rPr>
              <a:t>env:</a:t>
            </a:r>
            <a:endParaRPr lang="en-US" sz="1100" dirty="0"/>
          </a:p>
          <a:p>
            <a:pPr indent="0" marL="0">
              <a:lnSpc>
                <a:spcPts val="1900"/>
              </a:lnSpc>
              <a:buNone/>
            </a:pPr>
            <a:r>
              <a:rPr lang="en-US" sz="1100" dirty="0">
                <a:solidFill>
                  <a:srgbClr val="BFD4E8"/>
                </a:solidFill>
                <a:latin typeface="Courier New" pitchFamily="34" charset="0"/>
                <a:ea typeface="Courier New" pitchFamily="34" charset="-122"/>
                <a:cs typeface="Courier New" pitchFamily="34" charset="-120"/>
              </a:rPr>
              <a:t>  AZURE_STORAGE_CONNECTION_STRING:</a:t>
            </a:r>
            <a:endParaRPr lang="en-US" sz="1100" dirty="0"/>
          </a:p>
          <a:p>
            <a:pPr indent="0" marL="0">
              <a:lnSpc>
                <a:spcPts val="1900"/>
              </a:lnSpc>
              <a:buNone/>
            </a:pPr>
            <a:r>
              <a:rPr lang="en-US" sz="1100" dirty="0">
                <a:solidFill>
                  <a:srgbClr val="BFD4E8"/>
                </a:solidFill>
                <a:latin typeface="Courier New" pitchFamily="34" charset="0"/>
                <a:ea typeface="Courier New" pitchFamily="34" charset="-122"/>
                <a:cs typeface="Courier New" pitchFamily="34" charset="-120"/>
              </a:rPr>
              <a:t>    ${{ secrets.AZURE_STORAGE_CONNECTION_STRING }}</a:t>
            </a:r>
            <a:endParaRPr lang="en-US" sz="1100" dirty="0"/>
          </a:p>
        </p:txBody>
      </p:sp>
      <p:sp>
        <p:nvSpPr>
          <p:cNvPr id="10" name="Text 8"/>
          <p:cNvSpPr/>
          <p:nvPr/>
        </p:nvSpPr>
        <p:spPr>
          <a:xfrm>
            <a:off x="6583680" y="3611880"/>
            <a:ext cx="4730191"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name, not a value.</a:t>
            </a:r>
            <a:endParaRPr lang="en-US" sz="1300" dirty="0"/>
          </a:p>
        </p:txBody>
      </p:sp>
      <p:sp>
        <p:nvSpPr>
          <p:cNvPr id="11" name="Text 9"/>
          <p:cNvSpPr/>
          <p:nvPr/>
        </p:nvSpPr>
        <p:spPr>
          <a:xfrm>
            <a:off x="6583680" y="4023360"/>
            <a:ext cx="4730191" cy="1097280"/>
          </a:xfrm>
          <a:prstGeom prst="rect">
            <a:avLst/>
          </a:prstGeom>
          <a:noFill/>
          <a:ln/>
        </p:spPr>
        <p:txBody>
          <a:bodyPr wrap="square" lIns="0" tIns="0" rIns="0" bIns="0" rtlCol="0" anchor="ctr"/>
          <a:lstStyle/>
          <a:p>
            <a:pPr indent="0" marL="0">
              <a:lnSpc>
                <a:spcPts val="2000"/>
              </a:lnSpc>
              <a:buNone/>
            </a:pPr>
            <a:r>
              <a:rPr lang="en-US" sz="1350" dirty="0">
                <a:solidFill>
                  <a:srgbClr val="9FB0CE"/>
                </a:solidFill>
                <a:latin typeface="Calibri" pitchFamily="34" charset="0"/>
                <a:ea typeface="Calibri" pitchFamily="34" charset="-122"/>
                <a:cs typeface="Calibri" pitchFamily="34" charset="-120"/>
              </a:rPr>
              <a:t>When the password changes, one setting is updated and every workflow keeps working. No code is edited, nothing is redeployed.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547"/>
        </a:solidFill>
      </p:bgPr>
    </p:bg>
    <p:spTree>
      <p:nvGrpSpPr>
        <p:cNvPr id="1" name=""/>
        <p:cNvGrpSpPr/>
        <p:nvPr/>
      </p:nvGrpSpPr>
      <p:grpSpPr>
        <a:xfrm>
          <a:off x="0" y="0"/>
          <a:ext cx="0" cy="0"/>
          <a:chOff x="0" y="0"/>
          <a:chExt cx="0" cy="0"/>
        </a:xfrm>
      </p:grpSpPr>
      <p:sp>
        <p:nvSpPr>
          <p:cNvPr id="2" name="Text 0"/>
          <p:cNvSpPr/>
          <p:nvPr/>
        </p:nvSpPr>
        <p:spPr>
          <a:xfrm>
            <a:off x="566928" y="2148840"/>
            <a:ext cx="11057839" cy="320040"/>
          </a:xfrm>
          <a:prstGeom prst="rect">
            <a:avLst/>
          </a:prstGeom>
          <a:noFill/>
          <a:ln/>
        </p:spPr>
        <p:txBody>
          <a:bodyPr wrap="square" lIns="0" tIns="0" rIns="0" bIns="0" rtlCol="0" anchor="ctr"/>
          <a:lstStyle/>
          <a:p>
            <a:pPr indent="0" marL="0">
              <a:buNone/>
            </a:pPr>
            <a:r>
              <a:rPr lang="en-US" sz="1300" b="1" spc="250" kern="0" dirty="0">
                <a:solidFill>
                  <a:srgbClr val="FFB627"/>
                </a:solidFill>
                <a:latin typeface="Calibri" pitchFamily="34" charset="0"/>
                <a:ea typeface="Calibri" pitchFamily="34" charset="-122"/>
                <a:cs typeface="Calibri" pitchFamily="34" charset="-120"/>
              </a:rPr>
              <a:t>HANDS-ON · PARTS 1 AND 2</a:t>
            </a:r>
            <a:endParaRPr lang="en-US" sz="1300" dirty="0"/>
          </a:p>
        </p:txBody>
      </p:sp>
      <p:sp>
        <p:nvSpPr>
          <p:cNvPr id="3" name="Text 1"/>
          <p:cNvSpPr/>
          <p:nvPr/>
        </p:nvSpPr>
        <p:spPr>
          <a:xfrm>
            <a:off x="566928" y="2560320"/>
            <a:ext cx="9509742"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Your turn</a:t>
            </a:r>
            <a:endParaRPr lang="en-US" sz="4400" dirty="0"/>
          </a:p>
        </p:txBody>
      </p:sp>
      <p:sp>
        <p:nvSpPr>
          <p:cNvPr id="4" name="Text 2"/>
          <p:cNvSpPr/>
          <p:nvPr/>
        </p:nvSpPr>
        <p:spPr>
          <a:xfrm>
            <a:off x="566928" y="4069080"/>
            <a:ext cx="7961644" cy="914400"/>
          </a:xfrm>
          <a:prstGeom prst="rect">
            <a:avLst/>
          </a:prstGeom>
          <a:noFill/>
          <a:ln/>
        </p:spPr>
        <p:txBody>
          <a:bodyPr wrap="square" lIns="0" tIns="0" rIns="0" bIns="0" rtlCol="0" anchor="ctr"/>
          <a:lstStyle/>
          <a:p>
            <a:pPr indent="0" marL="0">
              <a:lnSpc>
                <a:spcPts val="2600"/>
              </a:lnSpc>
              <a:buNone/>
            </a:pPr>
            <a:r>
              <a:rPr lang="en-US" sz="1700" dirty="0">
                <a:solidFill>
                  <a:srgbClr val="C3D0E4"/>
                </a:solidFill>
                <a:latin typeface="Calibri" pitchFamily="34" charset="0"/>
                <a:ea typeface="Calibri" pitchFamily="34" charset="-122"/>
                <a:cs typeface="Calibri" pitchFamily="34" charset="-120"/>
              </a:rPr>
              <a:t>Twenty minutes. The next two slides stay up on the screen — you do not need to keep flipping through the handout.</a:t>
            </a:r>
            <a:endParaRPr lang="en-US" sz="1700" dirty="0"/>
          </a:p>
        </p:txBody>
      </p:sp>
      <p:sp>
        <p:nvSpPr>
          <p:cNvPr id="5" name="Text 3"/>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8290B8"/>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FFB627"/>
                </a:solidFill>
                <a:latin typeface="Calibri" pitchFamily="34" charset="0"/>
                <a:ea typeface="Calibri" pitchFamily="34" charset="-122"/>
                <a:cs typeface="Calibri" pitchFamily="34" charset="-120"/>
              </a:rPr>
              <a:t>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595360" cy="603504"/>
          </a:xfrm>
          <a:prstGeom prst="rect">
            <a:avLst/>
          </a:prstGeom>
          <a:noFill/>
          <a:ln/>
        </p:spPr>
        <p:txBody>
          <a:bodyPr wrap="square" lIns="0" tIns="0" rIns="0" bIns="0" rtlCol="0" anchor="ctr"/>
          <a:lstStyle/>
          <a:p>
            <a:pPr indent="0" marL="0">
              <a:buNone/>
            </a:pPr>
            <a:r>
              <a:rPr lang="en-US" sz="3200" b="1" dirty="0">
                <a:solidFill>
                  <a:srgbClr val="18222E"/>
                </a:solidFill>
                <a:latin typeface="Cambria" pitchFamily="34" charset="0"/>
                <a:ea typeface="Cambria" pitchFamily="34" charset="-122"/>
                <a:cs typeface="Cambria" pitchFamily="34" charset="-120"/>
              </a:rPr>
              <a:t>Part 0 — fork it and set it up</a:t>
            </a:r>
            <a:endParaRPr lang="en-US" sz="3200" dirty="0"/>
          </a:p>
        </p:txBody>
      </p:sp>
      <p:sp>
        <p:nvSpPr>
          <p:cNvPr id="3" name="Shape 1"/>
          <p:cNvSpPr/>
          <p:nvPr/>
        </p:nvSpPr>
        <p:spPr>
          <a:xfrm>
            <a:off x="9601200" y="466344"/>
            <a:ext cx="2011680" cy="566928"/>
          </a:xfrm>
          <a:prstGeom prst="roundRect">
            <a:avLst>
              <a:gd name="adj" fmla="val 16129"/>
            </a:avLst>
          </a:prstGeom>
          <a:solidFill>
            <a:srgbClr val="1B2547"/>
          </a:solidFill>
          <a:ln/>
        </p:spPr>
      </p:sp>
      <p:sp>
        <p:nvSpPr>
          <p:cNvPr id="4" name="Text 2"/>
          <p:cNvSpPr/>
          <p:nvPr/>
        </p:nvSpPr>
        <p:spPr>
          <a:xfrm>
            <a:off x="9601200" y="466344"/>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 minutes</a:t>
            </a:r>
            <a:endParaRPr lang="en-US" sz="1500" dirty="0"/>
          </a:p>
        </p:txBody>
      </p:sp>
      <p:sp>
        <p:nvSpPr>
          <p:cNvPr id="5" name="Text 3"/>
          <p:cNvSpPr/>
          <p:nvPr/>
        </p:nvSpPr>
        <p:spPr>
          <a:xfrm>
            <a:off x="566928" y="1024128"/>
            <a:ext cx="8595360" cy="347472"/>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We do these three together. Housekeeping only — shout if you fall behind.</a:t>
            </a:r>
            <a:endParaRPr lang="en-US" sz="1500" dirty="0"/>
          </a:p>
        </p:txBody>
      </p:sp>
      <p:sp>
        <p:nvSpPr>
          <p:cNvPr id="6" name="Shape 4"/>
          <p:cNvSpPr/>
          <p:nvPr/>
        </p:nvSpPr>
        <p:spPr>
          <a:xfrm>
            <a:off x="566928" y="1463040"/>
            <a:ext cx="11057839" cy="914400"/>
          </a:xfrm>
          <a:prstGeom prst="roundRect">
            <a:avLst>
              <a:gd name="adj" fmla="val 9000"/>
            </a:avLst>
          </a:prstGeom>
          <a:solidFill>
            <a:srgbClr val="EDF3F7"/>
          </a:solidFill>
          <a:ln/>
        </p:spPr>
      </p:sp>
      <p:sp>
        <p:nvSpPr>
          <p:cNvPr id="7" name="Shape 5"/>
          <p:cNvSpPr/>
          <p:nvPr/>
        </p:nvSpPr>
        <p:spPr>
          <a:xfrm>
            <a:off x="822960" y="1682496"/>
            <a:ext cx="475488" cy="475488"/>
          </a:xfrm>
          <a:prstGeom prst="ellipse">
            <a:avLst/>
          </a:prstGeom>
          <a:solidFill>
            <a:srgbClr val="065A82"/>
          </a:solidFill>
          <a:ln/>
        </p:spPr>
      </p:sp>
      <p:sp>
        <p:nvSpPr>
          <p:cNvPr id="8" name="Text 6"/>
          <p:cNvSpPr/>
          <p:nvPr/>
        </p:nvSpPr>
        <p:spPr>
          <a:xfrm>
            <a:off x="822960" y="168249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81328" y="1591056"/>
            <a:ext cx="9777679" cy="347472"/>
          </a:xfrm>
          <a:prstGeom prst="rect">
            <a:avLst/>
          </a:prstGeom>
          <a:noFill/>
          <a:ln/>
        </p:spPr>
        <p:txBody>
          <a:bodyPr wrap="square" lIns="0" tIns="0" rIns="0" bIns="0" rtlCol="0" anchor="ctr"/>
          <a:lstStyle/>
          <a:p>
            <a:pPr indent="0" marL="0">
              <a:buNone/>
            </a:pPr>
            <a:r>
              <a:rPr lang="en-US" sz="1550" b="1" dirty="0">
                <a:solidFill>
                  <a:srgbClr val="18222E"/>
                </a:solidFill>
                <a:latin typeface="Calibri" pitchFamily="34" charset="0"/>
                <a:ea typeface="Calibri" pitchFamily="34" charset="-122"/>
                <a:cs typeface="Calibri" pitchFamily="34" charset="-120"/>
              </a:rPr>
              <a:t>Fork the repository</a:t>
            </a:r>
            <a:endParaRPr lang="en-US" sz="1550" dirty="0"/>
          </a:p>
        </p:txBody>
      </p:sp>
      <p:sp>
        <p:nvSpPr>
          <p:cNvPr id="10" name="Text 8"/>
          <p:cNvSpPr/>
          <p:nvPr/>
        </p:nvSpPr>
        <p:spPr>
          <a:xfrm>
            <a:off x="1481328" y="1947672"/>
            <a:ext cx="9777679" cy="36576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Click  Fork  (top right) → Create fork. You now have your own copy of everything.</a:t>
            </a:r>
            <a:endParaRPr lang="en-US" sz="1350" dirty="0"/>
          </a:p>
        </p:txBody>
      </p:sp>
      <p:sp>
        <p:nvSpPr>
          <p:cNvPr id="11" name="Shape 9"/>
          <p:cNvSpPr/>
          <p:nvPr/>
        </p:nvSpPr>
        <p:spPr>
          <a:xfrm>
            <a:off x="566928" y="2487168"/>
            <a:ext cx="11057839" cy="914400"/>
          </a:xfrm>
          <a:prstGeom prst="roundRect">
            <a:avLst>
              <a:gd name="adj" fmla="val 9000"/>
            </a:avLst>
          </a:prstGeom>
          <a:solidFill>
            <a:srgbClr val="F6F9FB"/>
          </a:solidFill>
          <a:ln/>
        </p:spPr>
      </p:sp>
      <p:sp>
        <p:nvSpPr>
          <p:cNvPr id="12" name="Shape 10"/>
          <p:cNvSpPr/>
          <p:nvPr/>
        </p:nvSpPr>
        <p:spPr>
          <a:xfrm>
            <a:off x="822960" y="2706624"/>
            <a:ext cx="475488" cy="475488"/>
          </a:xfrm>
          <a:prstGeom prst="ellipse">
            <a:avLst/>
          </a:prstGeom>
          <a:solidFill>
            <a:srgbClr val="065A82"/>
          </a:solidFill>
          <a:ln/>
        </p:spPr>
      </p:sp>
      <p:sp>
        <p:nvSpPr>
          <p:cNvPr id="13" name="Text 11"/>
          <p:cNvSpPr/>
          <p:nvPr/>
        </p:nvSpPr>
        <p:spPr>
          <a:xfrm>
            <a:off x="822960" y="27066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481328" y="2615184"/>
            <a:ext cx="9777679" cy="347472"/>
          </a:xfrm>
          <a:prstGeom prst="rect">
            <a:avLst/>
          </a:prstGeom>
          <a:noFill/>
          <a:ln/>
        </p:spPr>
        <p:txBody>
          <a:bodyPr wrap="square" lIns="0" tIns="0" rIns="0" bIns="0" rtlCol="0" anchor="ctr"/>
          <a:lstStyle/>
          <a:p>
            <a:pPr indent="0" marL="0">
              <a:buNone/>
            </a:pPr>
            <a:r>
              <a:rPr lang="en-US" sz="1550" b="1" dirty="0">
                <a:solidFill>
                  <a:srgbClr val="18222E"/>
                </a:solidFill>
                <a:latin typeface="Calibri" pitchFamily="34" charset="0"/>
                <a:ea typeface="Calibri" pitchFamily="34" charset="-122"/>
                <a:cs typeface="Calibri" pitchFamily="34" charset="-120"/>
              </a:rPr>
              <a:t>Turn on Actions in your fork</a:t>
            </a:r>
            <a:endParaRPr lang="en-US" sz="1550" dirty="0"/>
          </a:p>
        </p:txBody>
      </p:sp>
      <p:sp>
        <p:nvSpPr>
          <p:cNvPr id="15" name="Text 13"/>
          <p:cNvSpPr/>
          <p:nvPr/>
        </p:nvSpPr>
        <p:spPr>
          <a:xfrm>
            <a:off x="1481328" y="2971800"/>
            <a:ext cx="9777679" cy="36576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Actions tab → click “I understand my workflows, go ahead and enable them.” Forks arrive with Actions switched off.</a:t>
            </a:r>
            <a:endParaRPr lang="en-US" sz="1350" dirty="0"/>
          </a:p>
        </p:txBody>
      </p:sp>
      <p:sp>
        <p:nvSpPr>
          <p:cNvPr id="16" name="Shape 14"/>
          <p:cNvSpPr/>
          <p:nvPr/>
        </p:nvSpPr>
        <p:spPr>
          <a:xfrm>
            <a:off x="566928" y="3511296"/>
            <a:ext cx="11057839" cy="914400"/>
          </a:xfrm>
          <a:prstGeom prst="roundRect">
            <a:avLst>
              <a:gd name="adj" fmla="val 9000"/>
            </a:avLst>
          </a:prstGeom>
          <a:solidFill>
            <a:srgbClr val="EDF3F7"/>
          </a:solidFill>
          <a:ln/>
        </p:spPr>
      </p:sp>
      <p:sp>
        <p:nvSpPr>
          <p:cNvPr id="17" name="Shape 15"/>
          <p:cNvSpPr/>
          <p:nvPr/>
        </p:nvSpPr>
        <p:spPr>
          <a:xfrm>
            <a:off x="822960" y="3730752"/>
            <a:ext cx="475488" cy="475488"/>
          </a:xfrm>
          <a:prstGeom prst="ellipse">
            <a:avLst/>
          </a:prstGeom>
          <a:solidFill>
            <a:srgbClr val="065A82"/>
          </a:solidFill>
          <a:ln/>
        </p:spPr>
      </p:sp>
      <p:sp>
        <p:nvSpPr>
          <p:cNvPr id="18" name="Text 16"/>
          <p:cNvSpPr/>
          <p:nvPr/>
        </p:nvSpPr>
        <p:spPr>
          <a:xfrm>
            <a:off x="822960" y="373075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481328" y="3639312"/>
            <a:ext cx="9777679" cy="347472"/>
          </a:xfrm>
          <a:prstGeom prst="rect">
            <a:avLst/>
          </a:prstGeom>
          <a:noFill/>
          <a:ln/>
        </p:spPr>
        <p:txBody>
          <a:bodyPr wrap="square" lIns="0" tIns="0" rIns="0" bIns="0" rtlCol="0" anchor="ctr"/>
          <a:lstStyle/>
          <a:p>
            <a:pPr indent="0" marL="0">
              <a:buNone/>
            </a:pPr>
            <a:r>
              <a:rPr lang="en-US" sz="1550" b="1" dirty="0">
                <a:solidFill>
                  <a:srgbClr val="18222E"/>
                </a:solidFill>
                <a:latin typeface="Calibri" pitchFamily="34" charset="0"/>
                <a:ea typeface="Calibri" pitchFamily="34" charset="-122"/>
                <a:cs typeface="Calibri" pitchFamily="34" charset="-120"/>
              </a:rPr>
              <a:t>Add the credential to your fork</a:t>
            </a:r>
            <a:endParaRPr lang="en-US" sz="1550" dirty="0"/>
          </a:p>
        </p:txBody>
      </p:sp>
      <p:sp>
        <p:nvSpPr>
          <p:cNvPr id="20" name="Text 18"/>
          <p:cNvSpPr/>
          <p:nvPr/>
        </p:nvSpPr>
        <p:spPr>
          <a:xfrm>
            <a:off x="1481328" y="3995928"/>
            <a:ext cx="9777679" cy="36576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Settings → Secrets and variables → Actions. Secret:  AZURE_STORAGE_CONNECTION_STRING . Variable:  AZURE_WEB_ENDPOINT .</a:t>
            </a:r>
            <a:endParaRPr lang="en-US" sz="1350" dirty="0"/>
          </a:p>
        </p:txBody>
      </p:sp>
      <p:sp>
        <p:nvSpPr>
          <p:cNvPr id="21" name="Shape 19"/>
          <p:cNvSpPr/>
          <p:nvPr/>
        </p:nvSpPr>
        <p:spPr>
          <a:xfrm>
            <a:off x="566928" y="4590288"/>
            <a:ext cx="11057839" cy="1207008"/>
          </a:xfrm>
          <a:prstGeom prst="roundRect">
            <a:avLst>
              <a:gd name="adj" fmla="val 6818"/>
            </a:avLst>
          </a:prstGeom>
          <a:solidFill>
            <a:srgbClr val="FFF4DC"/>
          </a:solidFill>
          <a:ln/>
        </p:spPr>
      </p:sp>
      <p:sp>
        <p:nvSpPr>
          <p:cNvPr id="22" name="Text 20"/>
          <p:cNvSpPr/>
          <p:nvPr/>
        </p:nvSpPr>
        <p:spPr>
          <a:xfrm>
            <a:off x="877824" y="4736592"/>
            <a:ext cx="10436047" cy="365760"/>
          </a:xfrm>
          <a:prstGeom prst="rect">
            <a:avLst/>
          </a:prstGeom>
          <a:noFill/>
          <a:ln/>
        </p:spPr>
        <p:txBody>
          <a:bodyPr wrap="square" lIns="0" tIns="0" rIns="0" bIns="0" rtlCol="0" anchor="ctr"/>
          <a:lstStyle/>
          <a:p>
            <a:pPr indent="0" marL="0">
              <a:buNone/>
            </a:pPr>
            <a:r>
              <a:rPr lang="en-US" sz="1600" b="1" dirty="0">
                <a:solidFill>
                  <a:srgbClr val="7A5410"/>
                </a:solidFill>
                <a:latin typeface="Calibri" pitchFamily="34" charset="0"/>
                <a:ea typeface="Calibri" pitchFamily="34" charset="-122"/>
                <a:cs typeface="Calibri" pitchFamily="34" charset="-120"/>
              </a:rPr>
              <a:t>Paste the connection string into the Secrets box and nowhere else</a:t>
            </a:r>
            <a:endParaRPr lang="en-US" sz="1600" dirty="0"/>
          </a:p>
        </p:txBody>
      </p:sp>
      <p:sp>
        <p:nvSpPr>
          <p:cNvPr id="23" name="Text 21"/>
          <p:cNvSpPr/>
          <p:nvPr/>
        </p:nvSpPr>
        <p:spPr>
          <a:xfrm>
            <a:off x="877824" y="5120640"/>
            <a:ext cx="10436047" cy="603504"/>
          </a:xfrm>
          <a:prstGeom prst="rect">
            <a:avLst/>
          </a:prstGeom>
          <a:noFill/>
          <a:ln/>
        </p:spPr>
        <p:txBody>
          <a:bodyPr wrap="square" lIns="0" tIns="0" rIns="0" bIns="0" rtlCol="0" anchor="ctr"/>
          <a:lstStyle/>
          <a:p>
            <a:pPr indent="0" marL="0">
              <a:lnSpc>
                <a:spcPts val="1900"/>
              </a:lnSpc>
              <a:buNone/>
            </a:pPr>
            <a:r>
              <a:rPr lang="en-US" sz="1350" dirty="0">
                <a:solidFill>
                  <a:srgbClr val="7A5410"/>
                </a:solidFill>
                <a:latin typeface="Calibri" pitchFamily="34" charset="0"/>
                <a:ea typeface="Calibri" pitchFamily="34" charset="-122"/>
                <a:cs typeface="Calibri" pitchFamily="34" charset="-120"/>
              </a:rPr>
              <a:t>Your fork is public. Anything committed to a file in it is visible to everyone, permanently — even if you delete it afterwards. Never into the workflow file, a comment, or a README.</a:t>
            </a:r>
            <a:endParaRPr lang="en-US" sz="1350" dirty="0"/>
          </a:p>
        </p:txBody>
      </p:sp>
      <p:sp>
        <p:nvSpPr>
          <p:cNvPr id="24" name="Text 2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595360" cy="603504"/>
          </a:xfrm>
          <a:prstGeom prst="rect">
            <a:avLst/>
          </a:prstGeom>
          <a:noFill/>
          <a:ln/>
        </p:spPr>
        <p:txBody>
          <a:bodyPr wrap="square" lIns="0" tIns="0" rIns="0" bIns="0" rtlCol="0" anchor="ctr"/>
          <a:lstStyle/>
          <a:p>
            <a:pPr indent="0" marL="0">
              <a:buNone/>
            </a:pPr>
            <a:r>
              <a:rPr lang="en-US" sz="3200" b="1" dirty="0">
                <a:solidFill>
                  <a:srgbClr val="18222E"/>
                </a:solidFill>
                <a:latin typeface="Cambria" pitchFamily="34" charset="0"/>
                <a:ea typeface="Cambria" pitchFamily="34" charset="-122"/>
                <a:cs typeface="Cambria" pitchFamily="34" charset="-120"/>
              </a:rPr>
              <a:t>Part 1 — make your own folder</a:t>
            </a:r>
            <a:endParaRPr lang="en-US" sz="3200" dirty="0"/>
          </a:p>
        </p:txBody>
      </p:sp>
      <p:sp>
        <p:nvSpPr>
          <p:cNvPr id="3" name="Shape 1"/>
          <p:cNvSpPr/>
          <p:nvPr/>
        </p:nvSpPr>
        <p:spPr>
          <a:xfrm>
            <a:off x="9601200" y="466344"/>
            <a:ext cx="2011680" cy="566928"/>
          </a:xfrm>
          <a:prstGeom prst="roundRect">
            <a:avLst>
              <a:gd name="adj" fmla="val 16129"/>
            </a:avLst>
          </a:prstGeom>
          <a:solidFill>
            <a:srgbClr val="1B2547"/>
          </a:solidFill>
          <a:ln/>
        </p:spPr>
      </p:sp>
      <p:sp>
        <p:nvSpPr>
          <p:cNvPr id="4" name="Text 2"/>
          <p:cNvSpPr/>
          <p:nvPr/>
        </p:nvSpPr>
        <p:spPr>
          <a:xfrm>
            <a:off x="9601200" y="466344"/>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 minutes</a:t>
            </a:r>
            <a:endParaRPr lang="en-US" sz="1500" dirty="0"/>
          </a:p>
        </p:txBody>
      </p:sp>
      <p:sp>
        <p:nvSpPr>
          <p:cNvPr id="5" name="Text 3"/>
          <p:cNvSpPr/>
          <p:nvPr/>
        </p:nvSpPr>
        <p:spPr>
          <a:xfrm>
            <a:off x="566928" y="1024128"/>
            <a:ext cx="8595360" cy="347472"/>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You are in your own fork now, so work straight on main. No branches needed.</a:t>
            </a:r>
            <a:endParaRPr lang="en-US" sz="1500" dirty="0"/>
          </a:p>
        </p:txBody>
      </p:sp>
      <p:sp>
        <p:nvSpPr>
          <p:cNvPr id="6" name="Shape 4"/>
          <p:cNvSpPr/>
          <p:nvPr/>
        </p:nvSpPr>
        <p:spPr>
          <a:xfrm>
            <a:off x="566928" y="1463040"/>
            <a:ext cx="11057839" cy="932688"/>
          </a:xfrm>
          <a:prstGeom prst="roundRect">
            <a:avLst>
              <a:gd name="adj" fmla="val 8824"/>
            </a:avLst>
          </a:prstGeom>
          <a:solidFill>
            <a:srgbClr val="EDF3F7"/>
          </a:solidFill>
          <a:ln/>
        </p:spPr>
      </p:sp>
      <p:sp>
        <p:nvSpPr>
          <p:cNvPr id="7" name="Shape 5"/>
          <p:cNvSpPr/>
          <p:nvPr/>
        </p:nvSpPr>
        <p:spPr>
          <a:xfrm>
            <a:off x="822960" y="1691640"/>
            <a:ext cx="475488" cy="475488"/>
          </a:xfrm>
          <a:prstGeom prst="ellipse">
            <a:avLst/>
          </a:prstGeom>
          <a:solidFill>
            <a:srgbClr val="065A82"/>
          </a:solidFill>
          <a:ln/>
        </p:spPr>
      </p:sp>
      <p:sp>
        <p:nvSpPr>
          <p:cNvPr id="8" name="Text 6"/>
          <p:cNvSpPr/>
          <p:nvPr/>
        </p:nvSpPr>
        <p:spPr>
          <a:xfrm>
            <a:off x="822960" y="16916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81328" y="1600200"/>
            <a:ext cx="2926080" cy="347472"/>
          </a:xfrm>
          <a:prstGeom prst="rect">
            <a:avLst/>
          </a:prstGeom>
          <a:noFill/>
          <a:ln/>
        </p:spPr>
        <p:txBody>
          <a:bodyPr wrap="square" lIns="0" tIns="0" rIns="0" bIns="0" rtlCol="0" anchor="ctr"/>
          <a:lstStyle/>
          <a:p>
            <a:pPr indent="0" marL="0">
              <a:buNone/>
            </a:pPr>
            <a:r>
              <a:rPr lang="en-US" sz="1550" b="1" dirty="0">
                <a:solidFill>
                  <a:srgbClr val="18222E"/>
                </a:solidFill>
                <a:latin typeface="Calibri" pitchFamily="34" charset="0"/>
                <a:ea typeface="Calibri" pitchFamily="34" charset="-122"/>
                <a:cs typeface="Calibri" pitchFamily="34" charset="-120"/>
              </a:rPr>
              <a:t>Start your folder</a:t>
            </a:r>
            <a:endParaRPr lang="en-US" sz="1550" dirty="0"/>
          </a:p>
        </p:txBody>
      </p:sp>
      <p:sp>
        <p:nvSpPr>
          <p:cNvPr id="10" name="Text 8"/>
          <p:cNvSpPr/>
          <p:nvPr/>
        </p:nvSpPr>
        <p:spPr>
          <a:xfrm>
            <a:off x="1481328" y="1956816"/>
            <a:ext cx="9777679" cy="36576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Add file → Create new file. In the filename box type:  site-your-username/index.html</a:t>
            </a:r>
            <a:endParaRPr lang="en-US" sz="1350" dirty="0"/>
          </a:p>
        </p:txBody>
      </p:sp>
      <p:sp>
        <p:nvSpPr>
          <p:cNvPr id="11" name="Shape 9"/>
          <p:cNvSpPr/>
          <p:nvPr/>
        </p:nvSpPr>
        <p:spPr>
          <a:xfrm>
            <a:off x="566928" y="2560320"/>
            <a:ext cx="11057839" cy="932688"/>
          </a:xfrm>
          <a:prstGeom prst="roundRect">
            <a:avLst>
              <a:gd name="adj" fmla="val 8824"/>
            </a:avLst>
          </a:prstGeom>
          <a:solidFill>
            <a:srgbClr val="F6F9FB"/>
          </a:solidFill>
          <a:ln/>
        </p:spPr>
      </p:sp>
      <p:sp>
        <p:nvSpPr>
          <p:cNvPr id="12" name="Shape 10"/>
          <p:cNvSpPr/>
          <p:nvPr/>
        </p:nvSpPr>
        <p:spPr>
          <a:xfrm>
            <a:off x="822960" y="2788920"/>
            <a:ext cx="475488" cy="475488"/>
          </a:xfrm>
          <a:prstGeom prst="ellipse">
            <a:avLst/>
          </a:prstGeom>
          <a:solidFill>
            <a:srgbClr val="065A82"/>
          </a:solidFill>
          <a:ln/>
        </p:spPr>
      </p:sp>
      <p:sp>
        <p:nvSpPr>
          <p:cNvPr id="13" name="Text 11"/>
          <p:cNvSpPr/>
          <p:nvPr/>
        </p:nvSpPr>
        <p:spPr>
          <a:xfrm>
            <a:off x="822960" y="27889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481328" y="2697480"/>
            <a:ext cx="2926080" cy="347472"/>
          </a:xfrm>
          <a:prstGeom prst="rect">
            <a:avLst/>
          </a:prstGeom>
          <a:noFill/>
          <a:ln/>
        </p:spPr>
        <p:txBody>
          <a:bodyPr wrap="square" lIns="0" tIns="0" rIns="0" bIns="0" rtlCol="0" anchor="ctr"/>
          <a:lstStyle/>
          <a:p>
            <a:pPr indent="0" marL="0">
              <a:buNone/>
            </a:pPr>
            <a:r>
              <a:rPr lang="en-US" sz="1550" b="1" dirty="0">
                <a:solidFill>
                  <a:srgbClr val="18222E"/>
                </a:solidFill>
                <a:latin typeface="Calibri" pitchFamily="34" charset="0"/>
                <a:ea typeface="Calibri" pitchFamily="34" charset="-122"/>
                <a:cs typeface="Calibri" pitchFamily="34" charset="-120"/>
              </a:rPr>
              <a:t>Fill it in</a:t>
            </a:r>
            <a:endParaRPr lang="en-US" sz="1550" dirty="0"/>
          </a:p>
        </p:txBody>
      </p:sp>
      <p:sp>
        <p:nvSpPr>
          <p:cNvPr id="15" name="Text 13"/>
          <p:cNvSpPr/>
          <p:nvPr/>
        </p:nvSpPr>
        <p:spPr>
          <a:xfrm>
            <a:off x="1481328" y="3054096"/>
            <a:ext cx="9777679" cy="36576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Open site-sample/index.html in another tab, copy everything, paste it in, then Commit changes.</a:t>
            </a:r>
            <a:endParaRPr lang="en-US" sz="1350" dirty="0"/>
          </a:p>
        </p:txBody>
      </p:sp>
      <p:sp>
        <p:nvSpPr>
          <p:cNvPr id="16" name="Shape 14"/>
          <p:cNvSpPr/>
          <p:nvPr/>
        </p:nvSpPr>
        <p:spPr>
          <a:xfrm>
            <a:off x="566928" y="3657600"/>
            <a:ext cx="11057839" cy="932688"/>
          </a:xfrm>
          <a:prstGeom prst="roundRect">
            <a:avLst>
              <a:gd name="adj" fmla="val 8824"/>
            </a:avLst>
          </a:prstGeom>
          <a:solidFill>
            <a:srgbClr val="EDF3F7"/>
          </a:solidFill>
          <a:ln/>
        </p:spPr>
      </p:sp>
      <p:sp>
        <p:nvSpPr>
          <p:cNvPr id="17" name="Shape 15"/>
          <p:cNvSpPr/>
          <p:nvPr/>
        </p:nvSpPr>
        <p:spPr>
          <a:xfrm>
            <a:off x="822960" y="3886200"/>
            <a:ext cx="475488" cy="475488"/>
          </a:xfrm>
          <a:prstGeom prst="ellipse">
            <a:avLst/>
          </a:prstGeom>
          <a:solidFill>
            <a:srgbClr val="065A82"/>
          </a:solidFill>
          <a:ln/>
        </p:spPr>
      </p:sp>
      <p:sp>
        <p:nvSpPr>
          <p:cNvPr id="18" name="Text 16"/>
          <p:cNvSpPr/>
          <p:nvPr/>
        </p:nvSpPr>
        <p:spPr>
          <a:xfrm>
            <a:off x="822960" y="38862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481328" y="3794760"/>
            <a:ext cx="2926080" cy="347472"/>
          </a:xfrm>
          <a:prstGeom prst="rect">
            <a:avLst/>
          </a:prstGeom>
          <a:noFill/>
          <a:ln/>
        </p:spPr>
        <p:txBody>
          <a:bodyPr wrap="square" lIns="0" tIns="0" rIns="0" bIns="0" rtlCol="0" anchor="ctr"/>
          <a:lstStyle/>
          <a:p>
            <a:pPr indent="0" marL="0">
              <a:buNone/>
            </a:pPr>
            <a:r>
              <a:rPr lang="en-US" sz="1550" b="1" dirty="0">
                <a:solidFill>
                  <a:srgbClr val="18222E"/>
                </a:solidFill>
                <a:latin typeface="Calibri" pitchFamily="34" charset="0"/>
                <a:ea typeface="Calibri" pitchFamily="34" charset="-122"/>
                <a:cs typeface="Calibri" pitchFamily="34" charset="-120"/>
              </a:rPr>
              <a:t>Repeat twice</a:t>
            </a:r>
            <a:endParaRPr lang="en-US" sz="1550" dirty="0"/>
          </a:p>
        </p:txBody>
      </p:sp>
      <p:sp>
        <p:nvSpPr>
          <p:cNvPr id="20" name="Text 18"/>
          <p:cNvSpPr/>
          <p:nvPr/>
        </p:nvSpPr>
        <p:spPr>
          <a:xfrm>
            <a:off x="1481328" y="4151376"/>
            <a:ext cx="9777679" cy="36576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Do the same for  styles.css  and  data.json  so your folder has all three files.</a:t>
            </a:r>
            <a:endParaRPr lang="en-US" sz="1350" dirty="0"/>
          </a:p>
        </p:txBody>
      </p:sp>
      <p:sp>
        <p:nvSpPr>
          <p:cNvPr id="21" name="Shape 19"/>
          <p:cNvSpPr/>
          <p:nvPr/>
        </p:nvSpPr>
        <p:spPr>
          <a:xfrm>
            <a:off x="566928" y="4754880"/>
            <a:ext cx="11057839" cy="932688"/>
          </a:xfrm>
          <a:prstGeom prst="roundRect">
            <a:avLst>
              <a:gd name="adj" fmla="val 8824"/>
            </a:avLst>
          </a:prstGeom>
          <a:solidFill>
            <a:srgbClr val="F6F9FB"/>
          </a:solidFill>
          <a:ln/>
        </p:spPr>
      </p:sp>
      <p:sp>
        <p:nvSpPr>
          <p:cNvPr id="22" name="Shape 20"/>
          <p:cNvSpPr/>
          <p:nvPr/>
        </p:nvSpPr>
        <p:spPr>
          <a:xfrm>
            <a:off x="822960" y="4983480"/>
            <a:ext cx="475488" cy="475488"/>
          </a:xfrm>
          <a:prstGeom prst="ellipse">
            <a:avLst/>
          </a:prstGeom>
          <a:solidFill>
            <a:srgbClr val="065A82"/>
          </a:solidFill>
          <a:ln/>
        </p:spPr>
      </p:sp>
      <p:sp>
        <p:nvSpPr>
          <p:cNvPr id="23" name="Text 21"/>
          <p:cNvSpPr/>
          <p:nvPr/>
        </p:nvSpPr>
        <p:spPr>
          <a:xfrm>
            <a:off x="822960" y="49834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1481328" y="4892040"/>
            <a:ext cx="2926080" cy="347472"/>
          </a:xfrm>
          <a:prstGeom prst="rect">
            <a:avLst/>
          </a:prstGeom>
          <a:noFill/>
          <a:ln/>
        </p:spPr>
        <p:txBody>
          <a:bodyPr wrap="square" lIns="0" tIns="0" rIns="0" bIns="0" rtlCol="0" anchor="ctr"/>
          <a:lstStyle/>
          <a:p>
            <a:pPr indent="0" marL="0">
              <a:buNone/>
            </a:pPr>
            <a:r>
              <a:rPr lang="en-US" sz="1550" b="1" dirty="0">
                <a:solidFill>
                  <a:srgbClr val="18222E"/>
                </a:solidFill>
                <a:latin typeface="Calibri" pitchFamily="34" charset="0"/>
                <a:ea typeface="Calibri" pitchFamily="34" charset="-122"/>
                <a:cs typeface="Calibri" pitchFamily="34" charset="-120"/>
              </a:rPr>
              <a:t>Put your name on it</a:t>
            </a:r>
            <a:endParaRPr lang="en-US" sz="1550" dirty="0"/>
          </a:p>
        </p:txBody>
      </p:sp>
      <p:sp>
        <p:nvSpPr>
          <p:cNvPr id="25" name="Text 23"/>
          <p:cNvSpPr/>
          <p:nvPr/>
        </p:nvSpPr>
        <p:spPr>
          <a:xfrm>
            <a:off x="1481328" y="5248656"/>
            <a:ext cx="9777679" cy="365760"/>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In your index.html, replace “your name here” with your actual name. Commit.</a:t>
            </a:r>
            <a:endParaRPr lang="en-US" sz="1350" dirty="0"/>
          </a:p>
        </p:txBody>
      </p:sp>
      <p:sp>
        <p:nvSpPr>
          <p:cNvPr id="26" name="Text 24"/>
          <p:cNvSpPr/>
          <p:nvPr/>
        </p:nvSpPr>
        <p:spPr>
          <a:xfrm>
            <a:off x="566928" y="5870448"/>
            <a:ext cx="11057839" cy="329184"/>
          </a:xfrm>
          <a:prstGeom prst="rect">
            <a:avLst/>
          </a:prstGeom>
          <a:noFill/>
          <a:ln/>
        </p:spPr>
        <p:txBody>
          <a:bodyPr wrap="square" lIns="0" tIns="0" rIns="0" bIns="0" rtlCol="0" anchor="ctr"/>
          <a:lstStyle/>
          <a:p>
            <a:pPr indent="0" marL="0">
              <a:buNone/>
            </a:pPr>
            <a:r>
              <a:rPr lang="en-US" sz="1350" b="1" i="1" dirty="0">
                <a:solidFill>
                  <a:srgbClr val="065A82"/>
                </a:solidFill>
                <a:latin typeface="Calibri" pitchFamily="34" charset="0"/>
                <a:ea typeface="Calibri" pitchFamily="34" charset="-122"/>
                <a:cs typeface="Calibri" pitchFamily="34" charset="-120"/>
              </a:rPr>
              <a:t>Typing a  /  in the filename box is how you create a folder in the GitHub website.</a:t>
            </a:r>
            <a:endParaRPr lang="en-US" sz="1350" dirty="0"/>
          </a:p>
        </p:txBody>
      </p:sp>
      <p:sp>
        <p:nvSpPr>
          <p:cNvPr id="27" name="Text 25"/>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595360" cy="603504"/>
          </a:xfrm>
          <a:prstGeom prst="rect">
            <a:avLst/>
          </a:prstGeom>
          <a:noFill/>
          <a:ln/>
        </p:spPr>
        <p:txBody>
          <a:bodyPr wrap="square" lIns="0" tIns="0" rIns="0" bIns="0" rtlCol="0" anchor="ctr"/>
          <a:lstStyle/>
          <a:p>
            <a:pPr indent="0" marL="0">
              <a:buNone/>
            </a:pPr>
            <a:r>
              <a:rPr lang="en-US" sz="3000" b="1" dirty="0">
                <a:solidFill>
                  <a:srgbClr val="18222E"/>
                </a:solidFill>
                <a:latin typeface="Cambria" pitchFamily="34" charset="0"/>
                <a:ea typeface="Cambria" pitchFamily="34" charset="-122"/>
                <a:cs typeface="Cambria" pitchFamily="34" charset="-120"/>
              </a:rPr>
              <a:t>Part 2 — point the workflow at your folder</a:t>
            </a:r>
            <a:endParaRPr lang="en-US" sz="3000" dirty="0"/>
          </a:p>
        </p:txBody>
      </p:sp>
      <p:sp>
        <p:nvSpPr>
          <p:cNvPr id="3" name="Shape 1"/>
          <p:cNvSpPr/>
          <p:nvPr/>
        </p:nvSpPr>
        <p:spPr>
          <a:xfrm>
            <a:off x="9601200" y="466344"/>
            <a:ext cx="2011680" cy="566928"/>
          </a:xfrm>
          <a:prstGeom prst="roundRect">
            <a:avLst>
              <a:gd name="adj" fmla="val 16129"/>
            </a:avLst>
          </a:prstGeom>
          <a:solidFill>
            <a:srgbClr val="1B2547"/>
          </a:solidFill>
          <a:ln/>
        </p:spPr>
      </p:sp>
      <p:sp>
        <p:nvSpPr>
          <p:cNvPr id="4" name="Text 2"/>
          <p:cNvSpPr/>
          <p:nvPr/>
        </p:nvSpPr>
        <p:spPr>
          <a:xfrm>
            <a:off x="9601200" y="466344"/>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 minutes</a:t>
            </a:r>
            <a:endParaRPr lang="en-US" sz="1500" dirty="0"/>
          </a:p>
        </p:txBody>
      </p:sp>
      <p:sp>
        <p:nvSpPr>
          <p:cNvPr id="5" name="Text 3"/>
          <p:cNvSpPr/>
          <p:nvPr/>
        </p:nvSpPr>
        <p:spPr>
          <a:xfrm>
            <a:off x="566928" y="1024128"/>
            <a:ext cx="8595360" cy="347472"/>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Open  .github/workflows/deploy-to-azure.yml  and click the pencil icon.</a:t>
            </a:r>
            <a:endParaRPr lang="en-US" sz="1500" dirty="0"/>
          </a:p>
        </p:txBody>
      </p:sp>
      <p:sp>
        <p:nvSpPr>
          <p:cNvPr id="6" name="Shape 4"/>
          <p:cNvSpPr/>
          <p:nvPr/>
        </p:nvSpPr>
        <p:spPr>
          <a:xfrm>
            <a:off x="566928" y="1481328"/>
            <a:ext cx="5394960" cy="2880360"/>
          </a:xfrm>
          <a:prstGeom prst="roundRect">
            <a:avLst>
              <a:gd name="adj" fmla="val 2857"/>
            </a:avLst>
          </a:prstGeom>
          <a:solidFill>
            <a:srgbClr val="EDF3F7"/>
          </a:solidFill>
          <a:ln/>
        </p:spPr>
      </p:sp>
      <p:sp>
        <p:nvSpPr>
          <p:cNvPr id="7" name="Shape 5"/>
          <p:cNvSpPr/>
          <p:nvPr/>
        </p:nvSpPr>
        <p:spPr>
          <a:xfrm>
            <a:off x="841248" y="1700784"/>
            <a:ext cx="438912" cy="438912"/>
          </a:xfrm>
          <a:prstGeom prst="ellipse">
            <a:avLst/>
          </a:prstGeom>
          <a:solidFill>
            <a:srgbClr val="065A82"/>
          </a:solidFill>
          <a:ln/>
        </p:spPr>
      </p:sp>
      <p:sp>
        <p:nvSpPr>
          <p:cNvPr id="8" name="Text 6"/>
          <p:cNvSpPr/>
          <p:nvPr/>
        </p:nvSpPr>
        <p:spPr>
          <a:xfrm>
            <a:off x="841248" y="170078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44752" y="1737360"/>
            <a:ext cx="4242816" cy="365760"/>
          </a:xfrm>
          <a:prstGeom prst="rect">
            <a:avLst/>
          </a:prstGeom>
          <a:noFill/>
          <a:ln/>
        </p:spPr>
        <p:txBody>
          <a:bodyPr wrap="square" lIns="0" tIns="0" rIns="0" bIns="0" rtlCol="0" anchor="ctr"/>
          <a:lstStyle/>
          <a:p>
            <a:pPr indent="0" marL="0">
              <a:buNone/>
            </a:pPr>
            <a:r>
              <a:rPr lang="en-US" sz="1400" b="1" dirty="0">
                <a:solidFill>
                  <a:srgbClr val="18222E"/>
                </a:solidFill>
                <a:latin typeface="Calibri" pitchFamily="34" charset="0"/>
                <a:ea typeface="Calibri" pitchFamily="34" charset="-122"/>
                <a:cs typeface="Calibri" pitchFamily="34" charset="-120"/>
              </a:rPr>
              <a:t>In the  paths:  list near the top</a:t>
            </a:r>
            <a:endParaRPr lang="en-US" sz="1400" dirty="0"/>
          </a:p>
        </p:txBody>
      </p:sp>
      <p:sp>
        <p:nvSpPr>
          <p:cNvPr id="10" name="Shape 8"/>
          <p:cNvSpPr/>
          <p:nvPr/>
        </p:nvSpPr>
        <p:spPr>
          <a:xfrm>
            <a:off x="841248" y="2331720"/>
            <a:ext cx="4846320" cy="402336"/>
          </a:xfrm>
          <a:prstGeom prst="roundRect">
            <a:avLst>
              <a:gd name="adj" fmla="val 13636"/>
            </a:avLst>
          </a:prstGeom>
          <a:solidFill>
            <a:srgbClr val="FFFFFF"/>
          </a:solidFill>
          <a:ln/>
        </p:spPr>
      </p:sp>
      <p:sp>
        <p:nvSpPr>
          <p:cNvPr id="11" name="Text 9"/>
          <p:cNvSpPr/>
          <p:nvPr/>
        </p:nvSpPr>
        <p:spPr>
          <a:xfrm>
            <a:off x="969264" y="2331720"/>
            <a:ext cx="4590288" cy="402336"/>
          </a:xfrm>
          <a:prstGeom prst="rect">
            <a:avLst/>
          </a:prstGeom>
          <a:noFill/>
          <a:ln/>
        </p:spPr>
        <p:txBody>
          <a:bodyPr wrap="square" lIns="0" tIns="0" rIns="0" bIns="0" rtlCol="0" anchor="ctr"/>
          <a:lstStyle/>
          <a:p>
            <a:pPr indent="0" marL="0">
              <a:buNone/>
            </a:pPr>
            <a:r>
              <a:rPr lang="en-US" sz="1300" dirty="0">
                <a:solidFill>
                  <a:srgbClr val="5D6B7A"/>
                </a:solidFill>
                <a:latin typeface="Courier New" pitchFamily="34" charset="0"/>
                <a:ea typeface="Courier New" pitchFamily="34" charset="-122"/>
                <a:cs typeface="Courier New" pitchFamily="34" charset="-120"/>
              </a:rPr>
              <a:t>- 'site-sample/**'</a:t>
            </a:r>
            <a:endParaRPr lang="en-US" sz="1300" dirty="0"/>
          </a:p>
        </p:txBody>
      </p:sp>
      <p:sp>
        <p:nvSpPr>
          <p:cNvPr id="12" name="Text 10"/>
          <p:cNvSpPr/>
          <p:nvPr/>
        </p:nvSpPr>
        <p:spPr>
          <a:xfrm>
            <a:off x="841248" y="2770632"/>
            <a:ext cx="365760" cy="292608"/>
          </a:xfrm>
          <a:prstGeom prst="rect">
            <a:avLst/>
          </a:prstGeom>
          <a:noFill/>
          <a:ln/>
        </p:spPr>
        <p:txBody>
          <a:bodyPr wrap="square" lIns="0" tIns="0" rIns="0" bIns="0" rtlCol="0" anchor="ctr"/>
          <a:lstStyle/>
          <a:p>
            <a:pPr algn="ctr" indent="0" marL="0">
              <a:buNone/>
            </a:pPr>
            <a:r>
              <a:rPr lang="en-US" sz="1500" b="1" dirty="0">
                <a:solidFill>
                  <a:srgbClr val="065A82"/>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841248" y="3081528"/>
            <a:ext cx="4846320" cy="402336"/>
          </a:xfrm>
          <a:prstGeom prst="roundRect">
            <a:avLst>
              <a:gd name="adj" fmla="val 13636"/>
            </a:avLst>
          </a:prstGeom>
          <a:solidFill>
            <a:srgbClr val="DCEAF3"/>
          </a:solidFill>
          <a:ln/>
        </p:spPr>
      </p:sp>
      <p:sp>
        <p:nvSpPr>
          <p:cNvPr id="14" name="Text 12"/>
          <p:cNvSpPr/>
          <p:nvPr/>
        </p:nvSpPr>
        <p:spPr>
          <a:xfrm>
            <a:off x="969264" y="3081528"/>
            <a:ext cx="4590288" cy="402336"/>
          </a:xfrm>
          <a:prstGeom prst="rect">
            <a:avLst/>
          </a:prstGeom>
          <a:noFill/>
          <a:ln/>
        </p:spPr>
        <p:txBody>
          <a:bodyPr wrap="square" lIns="0" tIns="0" rIns="0" bIns="0" rtlCol="0" anchor="ctr"/>
          <a:lstStyle/>
          <a:p>
            <a:pPr indent="0" marL="0">
              <a:buNone/>
            </a:pPr>
            <a:r>
              <a:rPr lang="en-US" sz="1300" b="1" dirty="0">
                <a:solidFill>
                  <a:srgbClr val="065A82"/>
                </a:solidFill>
                <a:latin typeface="Courier New" pitchFamily="34" charset="0"/>
                <a:ea typeface="Courier New" pitchFamily="34" charset="-122"/>
                <a:cs typeface="Courier New" pitchFamily="34" charset="-120"/>
              </a:rPr>
              <a:t>- 'site-yourname/**'</a:t>
            </a:r>
            <a:endParaRPr lang="en-US" sz="1300" dirty="0"/>
          </a:p>
        </p:txBody>
      </p:sp>
      <p:sp>
        <p:nvSpPr>
          <p:cNvPr id="15" name="Text 13"/>
          <p:cNvSpPr/>
          <p:nvPr/>
        </p:nvSpPr>
        <p:spPr>
          <a:xfrm>
            <a:off x="841248" y="3584448"/>
            <a:ext cx="4846320" cy="54864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Keep the quotes. Keep the /**.</a:t>
            </a:r>
            <a:endParaRPr lang="en-US" sz="1350" dirty="0"/>
          </a:p>
        </p:txBody>
      </p:sp>
      <p:sp>
        <p:nvSpPr>
          <p:cNvPr id="16" name="Shape 14"/>
          <p:cNvSpPr/>
          <p:nvPr/>
        </p:nvSpPr>
        <p:spPr>
          <a:xfrm>
            <a:off x="6263640" y="1481328"/>
            <a:ext cx="5394960" cy="2880360"/>
          </a:xfrm>
          <a:prstGeom prst="roundRect">
            <a:avLst>
              <a:gd name="adj" fmla="val 2857"/>
            </a:avLst>
          </a:prstGeom>
          <a:solidFill>
            <a:srgbClr val="EDF3F7"/>
          </a:solidFill>
          <a:ln/>
        </p:spPr>
      </p:sp>
      <p:sp>
        <p:nvSpPr>
          <p:cNvPr id="17" name="Shape 15"/>
          <p:cNvSpPr/>
          <p:nvPr/>
        </p:nvSpPr>
        <p:spPr>
          <a:xfrm>
            <a:off x="6537960" y="1700784"/>
            <a:ext cx="438912" cy="438912"/>
          </a:xfrm>
          <a:prstGeom prst="ellipse">
            <a:avLst/>
          </a:prstGeom>
          <a:solidFill>
            <a:srgbClr val="065A82"/>
          </a:solidFill>
          <a:ln/>
        </p:spPr>
      </p:sp>
      <p:sp>
        <p:nvSpPr>
          <p:cNvPr id="18" name="Text 16"/>
          <p:cNvSpPr/>
          <p:nvPr/>
        </p:nvSpPr>
        <p:spPr>
          <a:xfrm>
            <a:off x="6537960" y="170078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7"/>
          <p:cNvSpPr/>
          <p:nvPr/>
        </p:nvSpPr>
        <p:spPr>
          <a:xfrm>
            <a:off x="7141464" y="1737360"/>
            <a:ext cx="4242816" cy="365760"/>
          </a:xfrm>
          <a:prstGeom prst="rect">
            <a:avLst/>
          </a:prstGeom>
          <a:noFill/>
          <a:ln/>
        </p:spPr>
        <p:txBody>
          <a:bodyPr wrap="square" lIns="0" tIns="0" rIns="0" bIns="0" rtlCol="0" anchor="ctr"/>
          <a:lstStyle/>
          <a:p>
            <a:pPr indent="0" marL="0">
              <a:buNone/>
            </a:pPr>
            <a:r>
              <a:rPr lang="en-US" sz="1400" b="1" dirty="0">
                <a:solidFill>
                  <a:srgbClr val="18222E"/>
                </a:solidFill>
                <a:latin typeface="Calibri" pitchFamily="34" charset="0"/>
                <a:ea typeface="Calibri" pitchFamily="34" charset="-122"/>
                <a:cs typeface="Calibri" pitchFamily="34" charset="-120"/>
              </a:rPr>
              <a:t>In the  env:  block below it</a:t>
            </a:r>
            <a:endParaRPr lang="en-US" sz="1400" dirty="0"/>
          </a:p>
        </p:txBody>
      </p:sp>
      <p:sp>
        <p:nvSpPr>
          <p:cNvPr id="20" name="Shape 18"/>
          <p:cNvSpPr/>
          <p:nvPr/>
        </p:nvSpPr>
        <p:spPr>
          <a:xfrm>
            <a:off x="6537960" y="2331720"/>
            <a:ext cx="4846320" cy="402336"/>
          </a:xfrm>
          <a:prstGeom prst="roundRect">
            <a:avLst>
              <a:gd name="adj" fmla="val 13636"/>
            </a:avLst>
          </a:prstGeom>
          <a:solidFill>
            <a:srgbClr val="FFFFFF"/>
          </a:solidFill>
          <a:ln/>
        </p:spPr>
      </p:sp>
      <p:sp>
        <p:nvSpPr>
          <p:cNvPr id="21" name="Text 19"/>
          <p:cNvSpPr/>
          <p:nvPr/>
        </p:nvSpPr>
        <p:spPr>
          <a:xfrm>
            <a:off x="6665976" y="2331720"/>
            <a:ext cx="4590288" cy="402336"/>
          </a:xfrm>
          <a:prstGeom prst="rect">
            <a:avLst/>
          </a:prstGeom>
          <a:noFill/>
          <a:ln/>
        </p:spPr>
        <p:txBody>
          <a:bodyPr wrap="square" lIns="0" tIns="0" rIns="0" bIns="0" rtlCol="0" anchor="ctr"/>
          <a:lstStyle/>
          <a:p>
            <a:pPr indent="0" marL="0">
              <a:buNone/>
            </a:pPr>
            <a:r>
              <a:rPr lang="en-US" sz="1300" dirty="0">
                <a:solidFill>
                  <a:srgbClr val="5D6B7A"/>
                </a:solidFill>
                <a:latin typeface="Courier New" pitchFamily="34" charset="0"/>
                <a:ea typeface="Courier New" pitchFamily="34" charset="-122"/>
                <a:cs typeface="Courier New" pitchFamily="34" charset="-120"/>
              </a:rPr>
              <a:t>SITE_FOLDER: site-sample</a:t>
            </a:r>
            <a:endParaRPr lang="en-US" sz="1300" dirty="0"/>
          </a:p>
        </p:txBody>
      </p:sp>
      <p:sp>
        <p:nvSpPr>
          <p:cNvPr id="22" name="Text 20"/>
          <p:cNvSpPr/>
          <p:nvPr/>
        </p:nvSpPr>
        <p:spPr>
          <a:xfrm>
            <a:off x="6537960" y="2770632"/>
            <a:ext cx="365760" cy="292608"/>
          </a:xfrm>
          <a:prstGeom prst="rect">
            <a:avLst/>
          </a:prstGeom>
          <a:noFill/>
          <a:ln/>
        </p:spPr>
        <p:txBody>
          <a:bodyPr wrap="square" lIns="0" tIns="0" rIns="0" bIns="0" rtlCol="0" anchor="ctr"/>
          <a:lstStyle/>
          <a:p>
            <a:pPr algn="ctr" indent="0" marL="0">
              <a:buNone/>
            </a:pPr>
            <a:r>
              <a:rPr lang="en-US" sz="1500" b="1" dirty="0">
                <a:solidFill>
                  <a:srgbClr val="065A82"/>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6537960" y="3081528"/>
            <a:ext cx="4846320" cy="402336"/>
          </a:xfrm>
          <a:prstGeom prst="roundRect">
            <a:avLst>
              <a:gd name="adj" fmla="val 13636"/>
            </a:avLst>
          </a:prstGeom>
          <a:solidFill>
            <a:srgbClr val="DCEAF3"/>
          </a:solidFill>
          <a:ln/>
        </p:spPr>
      </p:sp>
      <p:sp>
        <p:nvSpPr>
          <p:cNvPr id="24" name="Text 22"/>
          <p:cNvSpPr/>
          <p:nvPr/>
        </p:nvSpPr>
        <p:spPr>
          <a:xfrm>
            <a:off x="6665976" y="3081528"/>
            <a:ext cx="4590288" cy="402336"/>
          </a:xfrm>
          <a:prstGeom prst="rect">
            <a:avLst/>
          </a:prstGeom>
          <a:noFill/>
          <a:ln/>
        </p:spPr>
        <p:txBody>
          <a:bodyPr wrap="square" lIns="0" tIns="0" rIns="0" bIns="0" rtlCol="0" anchor="ctr"/>
          <a:lstStyle/>
          <a:p>
            <a:pPr indent="0" marL="0">
              <a:buNone/>
            </a:pPr>
            <a:r>
              <a:rPr lang="en-US" sz="1300" b="1" dirty="0">
                <a:solidFill>
                  <a:srgbClr val="065A82"/>
                </a:solidFill>
                <a:latin typeface="Courier New" pitchFamily="34" charset="0"/>
                <a:ea typeface="Courier New" pitchFamily="34" charset="-122"/>
                <a:cs typeface="Courier New" pitchFamily="34" charset="-120"/>
              </a:rPr>
              <a:t>SITE_FOLDER: site-yourname</a:t>
            </a:r>
            <a:endParaRPr lang="en-US" sz="1300" dirty="0"/>
          </a:p>
        </p:txBody>
      </p:sp>
      <p:sp>
        <p:nvSpPr>
          <p:cNvPr id="25" name="Text 23"/>
          <p:cNvSpPr/>
          <p:nvPr/>
        </p:nvSpPr>
        <p:spPr>
          <a:xfrm>
            <a:off x="6537960" y="3584448"/>
            <a:ext cx="4846320" cy="54864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No quotes. No /**.</a:t>
            </a:r>
            <a:endParaRPr lang="en-US" sz="1350" dirty="0"/>
          </a:p>
        </p:txBody>
      </p:sp>
      <p:sp>
        <p:nvSpPr>
          <p:cNvPr id="26" name="Shape 24"/>
          <p:cNvSpPr/>
          <p:nvPr/>
        </p:nvSpPr>
        <p:spPr>
          <a:xfrm>
            <a:off x="566928" y="4681728"/>
            <a:ext cx="11057839" cy="1298448"/>
          </a:xfrm>
          <a:prstGeom prst="roundRect">
            <a:avLst>
              <a:gd name="adj" fmla="val 6338"/>
            </a:avLst>
          </a:prstGeom>
          <a:solidFill>
            <a:srgbClr val="F6F9FB"/>
          </a:solidFill>
          <a:ln/>
        </p:spPr>
      </p:sp>
      <p:sp>
        <p:nvSpPr>
          <p:cNvPr id="27" name="Text 25"/>
          <p:cNvSpPr/>
          <p:nvPr/>
        </p:nvSpPr>
        <p:spPr>
          <a:xfrm>
            <a:off x="859536" y="4846320"/>
            <a:ext cx="10472623" cy="365760"/>
          </a:xfrm>
          <a:prstGeom prst="rect">
            <a:avLst/>
          </a:prstGeom>
          <a:noFill/>
          <a:ln/>
        </p:spPr>
        <p:txBody>
          <a:bodyPr wrap="square" lIns="0" tIns="0" rIns="0" bIns="0" rtlCol="0" anchor="ctr"/>
          <a:lstStyle/>
          <a:p>
            <a:pPr indent="0" marL="0">
              <a:buNone/>
            </a:pPr>
            <a:r>
              <a:rPr lang="en-US" sz="1500" b="1" dirty="0">
                <a:solidFill>
                  <a:srgbClr val="18222E"/>
                </a:solidFill>
                <a:latin typeface="Calibri" pitchFamily="34" charset="0"/>
                <a:ea typeface="Calibri" pitchFamily="34" charset="-122"/>
                <a:cs typeface="Calibri" pitchFamily="34" charset="-120"/>
              </a:rPr>
              <a:t>Then:  Commit changes  →  Commit directly to main  (it is your fork)</a:t>
            </a:r>
            <a:endParaRPr lang="en-US" sz="1500" dirty="0"/>
          </a:p>
        </p:txBody>
      </p:sp>
      <p:sp>
        <p:nvSpPr>
          <p:cNvPr id="28" name="Text 26"/>
          <p:cNvSpPr/>
          <p:nvPr/>
        </p:nvSpPr>
        <p:spPr>
          <a:xfrm>
            <a:off x="859536" y="5230368"/>
            <a:ext cx="10472623" cy="658368"/>
          </a:xfrm>
          <a:prstGeom prst="rect">
            <a:avLst/>
          </a:prstGeom>
          <a:noFill/>
          <a:ln/>
        </p:spPr>
        <p:txBody>
          <a:bodyPr wrap="square" lIns="0" tIns="0" rIns="0" bIns="0" rtlCol="0" anchor="ctr"/>
          <a:lstStyle/>
          <a:p>
            <a:pPr indent="0" marL="0">
              <a:lnSpc>
                <a:spcPts val="1900"/>
              </a:lnSpc>
              <a:buNone/>
            </a:pPr>
            <a:r>
              <a:rPr lang="en-US" sz="1350" dirty="0">
                <a:solidFill>
                  <a:srgbClr val="5D6B7A"/>
                </a:solidFill>
                <a:latin typeface="Calibri" pitchFamily="34" charset="0"/>
                <a:ea typeface="Calibri" pitchFamily="34" charset="-122"/>
                <a:cs typeface="Calibri" pitchFamily="34" charset="-120"/>
              </a:rPr>
              <a:t>The two values must match each other exactly, including capital letters. If they do not, the run fails and tells you which folders it could actually find — read that message, it names the problem.</a:t>
            </a:r>
            <a:endParaRPr lang="en-US" sz="1350" dirty="0"/>
          </a:p>
        </p:txBody>
      </p:sp>
      <p:sp>
        <p:nvSpPr>
          <p:cNvPr id="29" name="Text 27"/>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547"/>
        </a:solidFill>
      </p:bgPr>
    </p:bg>
    <p:spTree>
      <p:nvGrpSpPr>
        <p:cNvPr id="1" name=""/>
        <p:cNvGrpSpPr/>
        <p:nvPr/>
      </p:nvGrpSpPr>
      <p:grpSpPr>
        <a:xfrm>
          <a:off x="0" y="0"/>
          <a:ext cx="0" cy="0"/>
          <a:chOff x="0" y="0"/>
          <a:chExt cx="0" cy="0"/>
        </a:xfrm>
      </p:grpSpPr>
      <p:sp>
        <p:nvSpPr>
          <p:cNvPr id="2" name="Text 0"/>
          <p:cNvSpPr/>
          <p:nvPr/>
        </p:nvSpPr>
        <p:spPr>
          <a:xfrm>
            <a:off x="566928" y="2148840"/>
            <a:ext cx="11057839" cy="320040"/>
          </a:xfrm>
          <a:prstGeom prst="rect">
            <a:avLst/>
          </a:prstGeom>
          <a:noFill/>
          <a:ln/>
        </p:spPr>
        <p:txBody>
          <a:bodyPr wrap="square" lIns="0" tIns="0" rIns="0" bIns="0" rtlCol="0" anchor="ctr"/>
          <a:lstStyle/>
          <a:p>
            <a:pPr indent="0" marL="0">
              <a:buNone/>
            </a:pPr>
            <a:r>
              <a:rPr lang="en-US" sz="1300" b="1" spc="250" kern="0" dirty="0">
                <a:solidFill>
                  <a:srgbClr val="FFB627"/>
                </a:solidFill>
                <a:latin typeface="Calibri" pitchFamily="34" charset="0"/>
                <a:ea typeface="Calibri" pitchFamily="34" charset="-122"/>
                <a:cs typeface="Calibri" pitchFamily="34" charset="-120"/>
              </a:rPr>
              <a:t>HANDS-ON · PART 3</a:t>
            </a:r>
            <a:endParaRPr lang="en-US" sz="1300" dirty="0"/>
          </a:p>
        </p:txBody>
      </p:sp>
      <p:sp>
        <p:nvSpPr>
          <p:cNvPr id="3" name="Text 1"/>
          <p:cNvSpPr/>
          <p:nvPr/>
        </p:nvSpPr>
        <p:spPr>
          <a:xfrm>
            <a:off x="566928" y="2560320"/>
            <a:ext cx="9509742"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Push it and watch</a:t>
            </a:r>
            <a:endParaRPr lang="en-US" sz="4400" dirty="0"/>
          </a:p>
        </p:txBody>
      </p:sp>
      <p:sp>
        <p:nvSpPr>
          <p:cNvPr id="4" name="Text 2"/>
          <p:cNvSpPr/>
          <p:nvPr/>
        </p:nvSpPr>
        <p:spPr>
          <a:xfrm>
            <a:off x="566928" y="4069080"/>
            <a:ext cx="7961644" cy="914400"/>
          </a:xfrm>
          <a:prstGeom prst="rect">
            <a:avLst/>
          </a:prstGeom>
          <a:noFill/>
          <a:ln/>
        </p:spPr>
        <p:txBody>
          <a:bodyPr wrap="square" lIns="0" tIns="0" rIns="0" bIns="0" rtlCol="0" anchor="ctr"/>
          <a:lstStyle/>
          <a:p>
            <a:pPr indent="0" marL="0">
              <a:lnSpc>
                <a:spcPts val="2600"/>
              </a:lnSpc>
              <a:buNone/>
            </a:pPr>
            <a:r>
              <a:rPr lang="en-US" sz="1700" dirty="0">
                <a:solidFill>
                  <a:srgbClr val="C3D0E4"/>
                </a:solidFill>
                <a:latin typeface="Calibri" pitchFamily="34" charset="0"/>
                <a:ea typeface="Calibri" pitchFamily="34" charset="-122"/>
                <a:cs typeface="Calibri" pitchFamily="34" charset="-120"/>
              </a:rPr>
              <a:t>Go to the Actions tab. Your run is probably already there.</a:t>
            </a:r>
            <a:endParaRPr lang="en-US" sz="1700" dirty="0"/>
          </a:p>
        </p:txBody>
      </p:sp>
      <p:sp>
        <p:nvSpPr>
          <p:cNvPr id="5" name="Text 3"/>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8290B8"/>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FFB627"/>
                </a:solidFill>
                <a:latin typeface="Calibri" pitchFamily="34" charset="0"/>
                <a:ea typeface="Calibri" pitchFamily="34" charset="-122"/>
                <a:cs typeface="Calibri" pitchFamily="34" charset="-120"/>
              </a:rPr>
              <a:t>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595360" cy="603504"/>
          </a:xfrm>
          <a:prstGeom prst="rect">
            <a:avLst/>
          </a:prstGeom>
          <a:noFill/>
          <a:ln/>
        </p:spPr>
        <p:txBody>
          <a:bodyPr wrap="square" lIns="0" tIns="0" rIns="0" bIns="0" rtlCol="0" anchor="ctr"/>
          <a:lstStyle/>
          <a:p>
            <a:pPr indent="0" marL="0">
              <a:buNone/>
            </a:pPr>
            <a:r>
              <a:rPr lang="en-US" sz="3200" b="1" dirty="0">
                <a:solidFill>
                  <a:srgbClr val="18222E"/>
                </a:solidFill>
                <a:latin typeface="Cambria" pitchFamily="34" charset="0"/>
                <a:ea typeface="Cambria" pitchFamily="34" charset="-122"/>
                <a:cs typeface="Cambria" pitchFamily="34" charset="-120"/>
              </a:rPr>
              <a:t>Part 3 — read the run</a:t>
            </a:r>
            <a:endParaRPr lang="en-US" sz="3200" dirty="0"/>
          </a:p>
        </p:txBody>
      </p:sp>
      <p:sp>
        <p:nvSpPr>
          <p:cNvPr id="3" name="Shape 1"/>
          <p:cNvSpPr/>
          <p:nvPr/>
        </p:nvSpPr>
        <p:spPr>
          <a:xfrm>
            <a:off x="9601200" y="466344"/>
            <a:ext cx="2011680" cy="566928"/>
          </a:xfrm>
          <a:prstGeom prst="roundRect">
            <a:avLst>
              <a:gd name="adj" fmla="val 16129"/>
            </a:avLst>
          </a:prstGeom>
          <a:solidFill>
            <a:srgbClr val="1B2547"/>
          </a:solidFill>
          <a:ln/>
        </p:spPr>
      </p:sp>
      <p:sp>
        <p:nvSpPr>
          <p:cNvPr id="4" name="Text 2"/>
          <p:cNvSpPr/>
          <p:nvPr/>
        </p:nvSpPr>
        <p:spPr>
          <a:xfrm>
            <a:off x="9601200" y="466344"/>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 minutes</a:t>
            </a:r>
            <a:endParaRPr lang="en-US" sz="1500" dirty="0"/>
          </a:p>
        </p:txBody>
      </p:sp>
      <p:sp>
        <p:nvSpPr>
          <p:cNvPr id="5" name="Text 3"/>
          <p:cNvSpPr/>
          <p:nvPr/>
        </p:nvSpPr>
        <p:spPr>
          <a:xfrm>
            <a:off x="566928" y="1024128"/>
            <a:ext cx="8595360" cy="347472"/>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Actions tab → click into your most recent run.</a:t>
            </a:r>
            <a:endParaRPr lang="en-US" sz="1500" dirty="0"/>
          </a:p>
        </p:txBody>
      </p:sp>
      <p:sp>
        <p:nvSpPr>
          <p:cNvPr id="6" name="Shape 4"/>
          <p:cNvSpPr/>
          <p:nvPr/>
        </p:nvSpPr>
        <p:spPr>
          <a:xfrm>
            <a:off x="566928" y="1481328"/>
            <a:ext cx="7635240" cy="822960"/>
          </a:xfrm>
          <a:prstGeom prst="roundRect">
            <a:avLst>
              <a:gd name="adj" fmla="val 10000"/>
            </a:avLst>
          </a:prstGeom>
          <a:solidFill>
            <a:srgbClr val="EDF3F7"/>
          </a:solidFill>
          <a:ln/>
        </p:spPr>
      </p:sp>
      <p:sp>
        <p:nvSpPr>
          <p:cNvPr id="7" name="Shape 5"/>
          <p:cNvSpPr/>
          <p:nvPr/>
        </p:nvSpPr>
        <p:spPr>
          <a:xfrm>
            <a:off x="804672" y="1673352"/>
            <a:ext cx="438912" cy="438912"/>
          </a:xfrm>
          <a:prstGeom prst="ellipse">
            <a:avLst/>
          </a:prstGeom>
          <a:solidFill>
            <a:srgbClr val="1C7293"/>
          </a:solidFill>
          <a:ln/>
        </p:spPr>
      </p:sp>
      <p:sp>
        <p:nvSpPr>
          <p:cNvPr id="8" name="Text 6"/>
          <p:cNvSpPr/>
          <p:nvPr/>
        </p:nvSpPr>
        <p:spPr>
          <a:xfrm>
            <a:off x="804672" y="167335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26464" y="1591056"/>
            <a:ext cx="6583680" cy="329184"/>
          </a:xfrm>
          <a:prstGeom prst="rect">
            <a:avLst/>
          </a:prstGeom>
          <a:noFill/>
          <a:ln/>
        </p:spPr>
        <p:txBody>
          <a:bodyPr wrap="square" lIns="0" tIns="0" rIns="0" bIns="0" rtlCol="0" anchor="ctr"/>
          <a:lstStyle/>
          <a:p>
            <a:pPr indent="0" marL="0">
              <a:buNone/>
            </a:pPr>
            <a:r>
              <a:rPr lang="en-US" sz="1500" b="1" dirty="0">
                <a:solidFill>
                  <a:srgbClr val="18222E"/>
                </a:solidFill>
                <a:latin typeface="Calibri" pitchFamily="34" charset="0"/>
                <a:ea typeface="Calibri" pitchFamily="34" charset="-122"/>
                <a:cs typeface="Calibri" pitchFamily="34" charset="-120"/>
              </a:rPr>
              <a:t>Why did this run?</a:t>
            </a:r>
            <a:endParaRPr lang="en-US" sz="1500" dirty="0"/>
          </a:p>
        </p:txBody>
      </p:sp>
      <p:sp>
        <p:nvSpPr>
          <p:cNvPr id="10" name="Text 8"/>
          <p:cNvSpPr/>
          <p:nvPr/>
        </p:nvSpPr>
        <p:spPr>
          <a:xfrm>
            <a:off x="1426464" y="1901952"/>
            <a:ext cx="6583680" cy="329184"/>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Prints what triggered it, which branch, and your commit message. Confirms GitHub saw you.</a:t>
            </a:r>
            <a:endParaRPr lang="en-US" sz="1300" dirty="0"/>
          </a:p>
        </p:txBody>
      </p:sp>
      <p:sp>
        <p:nvSpPr>
          <p:cNvPr id="11" name="Shape 9"/>
          <p:cNvSpPr/>
          <p:nvPr/>
        </p:nvSpPr>
        <p:spPr>
          <a:xfrm>
            <a:off x="566928" y="2441448"/>
            <a:ext cx="7635240" cy="822960"/>
          </a:xfrm>
          <a:prstGeom prst="roundRect">
            <a:avLst>
              <a:gd name="adj" fmla="val 10000"/>
            </a:avLst>
          </a:prstGeom>
          <a:solidFill>
            <a:srgbClr val="F6F9FB"/>
          </a:solidFill>
          <a:ln/>
        </p:spPr>
      </p:sp>
      <p:sp>
        <p:nvSpPr>
          <p:cNvPr id="12" name="Shape 10"/>
          <p:cNvSpPr/>
          <p:nvPr/>
        </p:nvSpPr>
        <p:spPr>
          <a:xfrm>
            <a:off x="804672" y="2633472"/>
            <a:ext cx="438912" cy="438912"/>
          </a:xfrm>
          <a:prstGeom prst="ellipse">
            <a:avLst/>
          </a:prstGeom>
          <a:solidFill>
            <a:srgbClr val="1C7293"/>
          </a:solidFill>
          <a:ln/>
        </p:spPr>
      </p:sp>
      <p:sp>
        <p:nvSpPr>
          <p:cNvPr id="13" name="Text 11"/>
          <p:cNvSpPr/>
          <p:nvPr/>
        </p:nvSpPr>
        <p:spPr>
          <a:xfrm>
            <a:off x="804672" y="263347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426464" y="2551176"/>
            <a:ext cx="6583680" cy="329184"/>
          </a:xfrm>
          <a:prstGeom prst="rect">
            <a:avLst/>
          </a:prstGeom>
          <a:noFill/>
          <a:ln/>
        </p:spPr>
        <p:txBody>
          <a:bodyPr wrap="square" lIns="0" tIns="0" rIns="0" bIns="0" rtlCol="0" anchor="ctr"/>
          <a:lstStyle/>
          <a:p>
            <a:pPr indent="0" marL="0">
              <a:buNone/>
            </a:pPr>
            <a:r>
              <a:rPr lang="en-US" sz="1500" b="1" dirty="0">
                <a:solidFill>
                  <a:srgbClr val="18222E"/>
                </a:solidFill>
                <a:latin typeface="Calibri" pitchFamily="34" charset="0"/>
                <a:ea typeface="Calibri" pitchFamily="34" charset="-122"/>
                <a:cs typeface="Calibri" pitchFamily="34" charset="-120"/>
              </a:rPr>
              <a:t>Work out which folder to deploy</a:t>
            </a:r>
            <a:endParaRPr lang="en-US" sz="1500" dirty="0"/>
          </a:p>
        </p:txBody>
      </p:sp>
      <p:sp>
        <p:nvSpPr>
          <p:cNvPr id="15" name="Text 13"/>
          <p:cNvSpPr/>
          <p:nvPr/>
        </p:nvSpPr>
        <p:spPr>
          <a:xfrm>
            <a:off x="1426464" y="2862072"/>
            <a:ext cx="6583680" cy="329184"/>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Checks your folder exists and counts the files. This is where a mismatch gets caught.</a:t>
            </a:r>
            <a:endParaRPr lang="en-US" sz="1300" dirty="0"/>
          </a:p>
        </p:txBody>
      </p:sp>
      <p:sp>
        <p:nvSpPr>
          <p:cNvPr id="16" name="Shape 14"/>
          <p:cNvSpPr/>
          <p:nvPr/>
        </p:nvSpPr>
        <p:spPr>
          <a:xfrm>
            <a:off x="566928" y="3401568"/>
            <a:ext cx="7635240" cy="822960"/>
          </a:xfrm>
          <a:prstGeom prst="roundRect">
            <a:avLst>
              <a:gd name="adj" fmla="val 10000"/>
            </a:avLst>
          </a:prstGeom>
          <a:solidFill>
            <a:srgbClr val="EDF3F7"/>
          </a:solidFill>
          <a:ln/>
        </p:spPr>
      </p:sp>
      <p:sp>
        <p:nvSpPr>
          <p:cNvPr id="17" name="Shape 15"/>
          <p:cNvSpPr/>
          <p:nvPr/>
        </p:nvSpPr>
        <p:spPr>
          <a:xfrm>
            <a:off x="804672" y="3593592"/>
            <a:ext cx="438912" cy="438912"/>
          </a:xfrm>
          <a:prstGeom prst="ellipse">
            <a:avLst/>
          </a:prstGeom>
          <a:solidFill>
            <a:srgbClr val="1C7293"/>
          </a:solidFill>
          <a:ln/>
        </p:spPr>
      </p:sp>
      <p:sp>
        <p:nvSpPr>
          <p:cNvPr id="18" name="Text 16"/>
          <p:cNvSpPr/>
          <p:nvPr/>
        </p:nvSpPr>
        <p:spPr>
          <a:xfrm>
            <a:off x="804672" y="359359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426464" y="3511296"/>
            <a:ext cx="6583680" cy="329184"/>
          </a:xfrm>
          <a:prstGeom prst="rect">
            <a:avLst/>
          </a:prstGeom>
          <a:noFill/>
          <a:ln/>
        </p:spPr>
        <p:txBody>
          <a:bodyPr wrap="square" lIns="0" tIns="0" rIns="0" bIns="0" rtlCol="0" anchor="ctr"/>
          <a:lstStyle/>
          <a:p>
            <a:pPr indent="0" marL="0">
              <a:buNone/>
            </a:pPr>
            <a:r>
              <a:rPr lang="en-US" sz="1500" b="1" dirty="0">
                <a:solidFill>
                  <a:srgbClr val="18222E"/>
                </a:solidFill>
                <a:latin typeface="Calibri" pitchFamily="34" charset="0"/>
                <a:ea typeface="Calibri" pitchFamily="34" charset="-122"/>
                <a:cs typeface="Calibri" pitchFamily="34" charset="-120"/>
              </a:rPr>
              <a:t>Upload files to Azure Storage</a:t>
            </a:r>
            <a:endParaRPr lang="en-US" sz="1500" dirty="0"/>
          </a:p>
        </p:txBody>
      </p:sp>
      <p:sp>
        <p:nvSpPr>
          <p:cNvPr id="20" name="Text 18"/>
          <p:cNvSpPr/>
          <p:nvPr/>
        </p:nvSpPr>
        <p:spPr>
          <a:xfrm>
            <a:off x="1426464" y="3822192"/>
            <a:ext cx="6583680" cy="329184"/>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One line per file, with the file type it was uploaded as.</a:t>
            </a:r>
            <a:endParaRPr lang="en-US" sz="1300" dirty="0"/>
          </a:p>
        </p:txBody>
      </p:sp>
      <p:sp>
        <p:nvSpPr>
          <p:cNvPr id="21" name="Shape 19"/>
          <p:cNvSpPr/>
          <p:nvPr/>
        </p:nvSpPr>
        <p:spPr>
          <a:xfrm>
            <a:off x="566928" y="4361688"/>
            <a:ext cx="7635240" cy="822960"/>
          </a:xfrm>
          <a:prstGeom prst="roundRect">
            <a:avLst>
              <a:gd name="adj" fmla="val 10000"/>
            </a:avLst>
          </a:prstGeom>
          <a:solidFill>
            <a:srgbClr val="F6F9FB"/>
          </a:solidFill>
          <a:ln/>
        </p:spPr>
      </p:sp>
      <p:sp>
        <p:nvSpPr>
          <p:cNvPr id="22" name="Shape 20"/>
          <p:cNvSpPr/>
          <p:nvPr/>
        </p:nvSpPr>
        <p:spPr>
          <a:xfrm>
            <a:off x="804672" y="4553712"/>
            <a:ext cx="438912" cy="438912"/>
          </a:xfrm>
          <a:prstGeom prst="ellipse">
            <a:avLst/>
          </a:prstGeom>
          <a:solidFill>
            <a:srgbClr val="1C7293"/>
          </a:solidFill>
          <a:ln/>
        </p:spPr>
      </p:sp>
      <p:sp>
        <p:nvSpPr>
          <p:cNvPr id="23" name="Text 21"/>
          <p:cNvSpPr/>
          <p:nvPr/>
        </p:nvSpPr>
        <p:spPr>
          <a:xfrm>
            <a:off x="804672" y="455371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1426464" y="4471416"/>
            <a:ext cx="6583680" cy="329184"/>
          </a:xfrm>
          <a:prstGeom prst="rect">
            <a:avLst/>
          </a:prstGeom>
          <a:noFill/>
          <a:ln/>
        </p:spPr>
        <p:txBody>
          <a:bodyPr wrap="square" lIns="0" tIns="0" rIns="0" bIns="0" rtlCol="0" anchor="ctr"/>
          <a:lstStyle/>
          <a:p>
            <a:pPr indent="0" marL="0">
              <a:buNone/>
            </a:pPr>
            <a:r>
              <a:rPr lang="en-US" sz="1500" b="1" dirty="0">
                <a:solidFill>
                  <a:srgbClr val="18222E"/>
                </a:solidFill>
                <a:latin typeface="Calibri" pitchFamily="34" charset="0"/>
                <a:ea typeface="Calibri" pitchFamily="34" charset="-122"/>
                <a:cs typeface="Calibri" pitchFamily="34" charset="-120"/>
              </a:rPr>
              <a:t>Write the run summary</a:t>
            </a:r>
            <a:endParaRPr lang="en-US" sz="1500" dirty="0"/>
          </a:p>
        </p:txBody>
      </p:sp>
      <p:sp>
        <p:nvSpPr>
          <p:cNvPr id="25" name="Text 23"/>
          <p:cNvSpPr/>
          <p:nvPr/>
        </p:nvSpPr>
        <p:spPr>
          <a:xfrm>
            <a:off x="1426464" y="4782312"/>
            <a:ext cx="6583680" cy="329184"/>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Go back to the run's main page — your live link is at the top.</a:t>
            </a:r>
            <a:endParaRPr lang="en-US" sz="1300" dirty="0"/>
          </a:p>
        </p:txBody>
      </p:sp>
      <p:sp>
        <p:nvSpPr>
          <p:cNvPr id="26" name="Shape 24"/>
          <p:cNvSpPr/>
          <p:nvPr/>
        </p:nvSpPr>
        <p:spPr>
          <a:xfrm>
            <a:off x="8476488" y="1481328"/>
            <a:ext cx="3148279" cy="3502152"/>
          </a:xfrm>
          <a:prstGeom prst="roundRect">
            <a:avLst>
              <a:gd name="adj" fmla="val 2614"/>
            </a:avLst>
          </a:prstGeom>
          <a:solidFill>
            <a:srgbClr val="1B2547"/>
          </a:solidFill>
          <a:ln/>
        </p:spPr>
      </p:sp>
      <p:sp>
        <p:nvSpPr>
          <p:cNvPr id="27" name="Text 25"/>
          <p:cNvSpPr/>
          <p:nvPr/>
        </p:nvSpPr>
        <p:spPr>
          <a:xfrm>
            <a:off x="8750808" y="1700784"/>
            <a:ext cx="2599639" cy="292608"/>
          </a:xfrm>
          <a:prstGeom prst="rect">
            <a:avLst/>
          </a:prstGeom>
          <a:noFill/>
          <a:ln/>
        </p:spPr>
        <p:txBody>
          <a:bodyPr wrap="square" lIns="0" tIns="0" rIns="0" bIns="0" rtlCol="0" anchor="ctr"/>
          <a:lstStyle/>
          <a:p>
            <a:pPr indent="0" marL="0">
              <a:buNone/>
            </a:pPr>
            <a:r>
              <a:rPr lang="en-US" sz="1100" b="1" spc="200" kern="0" dirty="0">
                <a:solidFill>
                  <a:srgbClr val="FFB627"/>
                </a:solidFill>
                <a:latin typeface="Calibri" pitchFamily="34" charset="0"/>
                <a:ea typeface="Calibri" pitchFamily="34" charset="-122"/>
                <a:cs typeface="Calibri" pitchFamily="34" charset="-120"/>
              </a:rPr>
              <a:t>WHAT THE COLOURS MEAN</a:t>
            </a:r>
            <a:endParaRPr lang="en-US" sz="1100" dirty="0"/>
          </a:p>
        </p:txBody>
      </p:sp>
      <p:sp>
        <p:nvSpPr>
          <p:cNvPr id="28" name="Shape 26"/>
          <p:cNvSpPr/>
          <p:nvPr/>
        </p:nvSpPr>
        <p:spPr>
          <a:xfrm>
            <a:off x="8750808" y="2139696"/>
            <a:ext cx="219456" cy="219456"/>
          </a:xfrm>
          <a:prstGeom prst="ellipse">
            <a:avLst/>
          </a:prstGeom>
          <a:solidFill>
            <a:srgbClr val="FFC83D"/>
          </a:solidFill>
          <a:ln/>
        </p:spPr>
      </p:sp>
      <p:sp>
        <p:nvSpPr>
          <p:cNvPr id="29" name="Text 27"/>
          <p:cNvSpPr/>
          <p:nvPr/>
        </p:nvSpPr>
        <p:spPr>
          <a:xfrm>
            <a:off x="9079992" y="2103120"/>
            <a:ext cx="2233879"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Yellow</a:t>
            </a:r>
            <a:endParaRPr lang="en-US" sz="1400" dirty="0"/>
          </a:p>
        </p:txBody>
      </p:sp>
      <p:sp>
        <p:nvSpPr>
          <p:cNvPr id="30" name="Text 28"/>
          <p:cNvSpPr/>
          <p:nvPr/>
        </p:nvSpPr>
        <p:spPr>
          <a:xfrm>
            <a:off x="9079992" y="2377440"/>
            <a:ext cx="2233879" cy="457200"/>
          </a:xfrm>
          <a:prstGeom prst="rect">
            <a:avLst/>
          </a:prstGeom>
          <a:noFill/>
          <a:ln/>
        </p:spPr>
        <p:txBody>
          <a:bodyPr wrap="square" lIns="0" tIns="0" rIns="0" bIns="0" rtlCol="0" anchor="ctr"/>
          <a:lstStyle/>
          <a:p>
            <a:pPr indent="0" marL="0">
              <a:lnSpc>
                <a:spcPts val="1700"/>
              </a:lnSpc>
              <a:buNone/>
            </a:pPr>
            <a:r>
              <a:rPr lang="en-US" sz="1250" dirty="0">
                <a:solidFill>
                  <a:srgbClr val="9FB0CE"/>
                </a:solidFill>
                <a:latin typeface="Calibri" pitchFamily="34" charset="0"/>
                <a:ea typeface="Calibri" pitchFamily="34" charset="-122"/>
                <a:cs typeface="Calibri" pitchFamily="34" charset="-120"/>
              </a:rPr>
              <a:t>still running</a:t>
            </a:r>
            <a:endParaRPr lang="en-US" sz="1250" dirty="0"/>
          </a:p>
        </p:txBody>
      </p:sp>
      <p:sp>
        <p:nvSpPr>
          <p:cNvPr id="31" name="Shape 29"/>
          <p:cNvSpPr/>
          <p:nvPr/>
        </p:nvSpPr>
        <p:spPr>
          <a:xfrm>
            <a:off x="8750808" y="2916936"/>
            <a:ext cx="219456" cy="219456"/>
          </a:xfrm>
          <a:prstGeom prst="ellipse">
            <a:avLst/>
          </a:prstGeom>
          <a:solidFill>
            <a:srgbClr val="3FB950"/>
          </a:solidFill>
          <a:ln/>
        </p:spPr>
      </p:sp>
      <p:sp>
        <p:nvSpPr>
          <p:cNvPr id="32" name="Text 30"/>
          <p:cNvSpPr/>
          <p:nvPr/>
        </p:nvSpPr>
        <p:spPr>
          <a:xfrm>
            <a:off x="9079992" y="2880360"/>
            <a:ext cx="2233879"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Green</a:t>
            </a:r>
            <a:endParaRPr lang="en-US" sz="1400" dirty="0"/>
          </a:p>
        </p:txBody>
      </p:sp>
      <p:sp>
        <p:nvSpPr>
          <p:cNvPr id="33" name="Text 31"/>
          <p:cNvSpPr/>
          <p:nvPr/>
        </p:nvSpPr>
        <p:spPr>
          <a:xfrm>
            <a:off x="9079992" y="3154680"/>
            <a:ext cx="2233879" cy="457200"/>
          </a:xfrm>
          <a:prstGeom prst="rect">
            <a:avLst/>
          </a:prstGeom>
          <a:noFill/>
          <a:ln/>
        </p:spPr>
        <p:txBody>
          <a:bodyPr wrap="square" lIns="0" tIns="0" rIns="0" bIns="0" rtlCol="0" anchor="ctr"/>
          <a:lstStyle/>
          <a:p>
            <a:pPr indent="0" marL="0">
              <a:lnSpc>
                <a:spcPts val="1700"/>
              </a:lnSpc>
              <a:buNone/>
            </a:pPr>
            <a:r>
              <a:rPr lang="en-US" sz="1250" dirty="0">
                <a:solidFill>
                  <a:srgbClr val="9FB0CE"/>
                </a:solidFill>
                <a:latin typeface="Calibri" pitchFamily="34" charset="0"/>
                <a:ea typeface="Calibri" pitchFamily="34" charset="-122"/>
                <a:cs typeface="Calibri" pitchFamily="34" charset="-120"/>
              </a:rPr>
              <a:t>it worked</a:t>
            </a:r>
            <a:endParaRPr lang="en-US" sz="1250" dirty="0"/>
          </a:p>
        </p:txBody>
      </p:sp>
      <p:sp>
        <p:nvSpPr>
          <p:cNvPr id="34" name="Shape 32"/>
          <p:cNvSpPr/>
          <p:nvPr/>
        </p:nvSpPr>
        <p:spPr>
          <a:xfrm>
            <a:off x="8750808" y="3694176"/>
            <a:ext cx="219456" cy="219456"/>
          </a:xfrm>
          <a:prstGeom prst="ellipse">
            <a:avLst/>
          </a:prstGeom>
          <a:solidFill>
            <a:srgbClr val="F04E48"/>
          </a:solidFill>
          <a:ln/>
        </p:spPr>
      </p:sp>
      <p:sp>
        <p:nvSpPr>
          <p:cNvPr id="35" name="Text 33"/>
          <p:cNvSpPr/>
          <p:nvPr/>
        </p:nvSpPr>
        <p:spPr>
          <a:xfrm>
            <a:off x="9079992" y="3657600"/>
            <a:ext cx="2233879"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Red</a:t>
            </a:r>
            <a:endParaRPr lang="en-US" sz="1400" dirty="0"/>
          </a:p>
        </p:txBody>
      </p:sp>
      <p:sp>
        <p:nvSpPr>
          <p:cNvPr id="36" name="Text 34"/>
          <p:cNvSpPr/>
          <p:nvPr/>
        </p:nvSpPr>
        <p:spPr>
          <a:xfrm>
            <a:off x="9079992" y="3931920"/>
            <a:ext cx="2233879" cy="457200"/>
          </a:xfrm>
          <a:prstGeom prst="rect">
            <a:avLst/>
          </a:prstGeom>
          <a:noFill/>
          <a:ln/>
        </p:spPr>
        <p:txBody>
          <a:bodyPr wrap="square" lIns="0" tIns="0" rIns="0" bIns="0" rtlCol="0" anchor="ctr"/>
          <a:lstStyle/>
          <a:p>
            <a:pPr indent="0" marL="0">
              <a:lnSpc>
                <a:spcPts val="1700"/>
              </a:lnSpc>
              <a:buNone/>
            </a:pPr>
            <a:r>
              <a:rPr lang="en-US" sz="1250" dirty="0">
                <a:solidFill>
                  <a:srgbClr val="9FB0CE"/>
                </a:solidFill>
                <a:latin typeface="Calibri" pitchFamily="34" charset="0"/>
                <a:ea typeface="Calibri" pitchFamily="34" charset="-122"/>
                <a:cs typeface="Calibri" pitchFamily="34" charset="-120"/>
              </a:rPr>
              <a:t>it failed — open it and read</a:t>
            </a:r>
            <a:endParaRPr lang="en-US" sz="1250" dirty="0"/>
          </a:p>
        </p:txBody>
      </p:sp>
      <p:sp>
        <p:nvSpPr>
          <p:cNvPr id="37" name="Text 35"/>
          <p:cNvSpPr/>
          <p:nvPr/>
        </p:nvSpPr>
        <p:spPr>
          <a:xfrm>
            <a:off x="9079992" y="4572000"/>
            <a:ext cx="2270455" cy="292608"/>
          </a:xfrm>
          <a:prstGeom prst="rect">
            <a:avLst/>
          </a:prstGeom>
          <a:noFill/>
          <a:ln/>
        </p:spPr>
        <p:txBody>
          <a:bodyPr wrap="square" lIns="0" tIns="0" rIns="0" bIns="0" rtlCol="0" anchor="ctr"/>
          <a:lstStyle/>
          <a:p>
            <a:pPr indent="0" marL="0">
              <a:buNone/>
            </a:pPr>
            <a:r>
              <a:rPr lang="en-US" sz="1250" i="1" dirty="0">
                <a:solidFill>
                  <a:srgbClr val="FFB627"/>
                </a:solidFill>
                <a:latin typeface="Calibri" pitchFamily="34" charset="0"/>
                <a:ea typeface="Calibri" pitchFamily="34" charset="-122"/>
                <a:cs typeface="Calibri" pitchFamily="34" charset="-120"/>
              </a:rPr>
              <a:t>Red is normal. Everyone gets one.</a:t>
            </a:r>
            <a:endParaRPr lang="en-US" sz="1250" dirty="0"/>
          </a:p>
        </p:txBody>
      </p:sp>
      <p:sp>
        <p:nvSpPr>
          <p:cNvPr id="38" name="Text 36"/>
          <p:cNvSpPr/>
          <p:nvPr/>
        </p:nvSpPr>
        <p:spPr>
          <a:xfrm>
            <a:off x="566928" y="5230368"/>
            <a:ext cx="11057839"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Open your live link. Your name should be on a real web page, served from Azure.</a:t>
            </a:r>
            <a:endParaRPr lang="en-US" sz="1600" dirty="0"/>
          </a:p>
        </p:txBody>
      </p:sp>
      <p:sp>
        <p:nvSpPr>
          <p:cNvPr id="39" name="Text 37"/>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547"/>
        </a:solidFill>
      </p:bgPr>
    </p:bg>
    <p:spTree>
      <p:nvGrpSpPr>
        <p:cNvPr id="1" name=""/>
        <p:cNvGrpSpPr/>
        <p:nvPr/>
      </p:nvGrpSpPr>
      <p:grpSpPr>
        <a:xfrm>
          <a:off x="0" y="0"/>
          <a:ext cx="0" cy="0"/>
          <a:chOff x="0" y="0"/>
          <a:chExt cx="0" cy="0"/>
        </a:xfrm>
      </p:grpSpPr>
      <p:sp>
        <p:nvSpPr>
          <p:cNvPr id="2" name="Text 0"/>
          <p:cNvSpPr/>
          <p:nvPr/>
        </p:nvSpPr>
        <p:spPr>
          <a:xfrm>
            <a:off x="566928" y="2148840"/>
            <a:ext cx="11057839" cy="320040"/>
          </a:xfrm>
          <a:prstGeom prst="rect">
            <a:avLst/>
          </a:prstGeom>
          <a:noFill/>
          <a:ln/>
        </p:spPr>
        <p:txBody>
          <a:bodyPr wrap="square" lIns="0" tIns="0" rIns="0" bIns="0" rtlCol="0" anchor="ctr"/>
          <a:lstStyle/>
          <a:p>
            <a:pPr indent="0" marL="0">
              <a:buNone/>
            </a:pPr>
            <a:r>
              <a:rPr lang="en-US" sz="1300" b="1" spc="250" kern="0" dirty="0">
                <a:solidFill>
                  <a:srgbClr val="FFB627"/>
                </a:solidFill>
                <a:latin typeface="Calibri" pitchFamily="34" charset="0"/>
                <a:ea typeface="Calibri" pitchFamily="34" charset="-122"/>
                <a:cs typeface="Calibri" pitchFamily="34" charset="-120"/>
              </a:rPr>
              <a:t>HANDS-ON · PART 4</a:t>
            </a:r>
            <a:endParaRPr lang="en-US" sz="1300" dirty="0"/>
          </a:p>
        </p:txBody>
      </p:sp>
      <p:sp>
        <p:nvSpPr>
          <p:cNvPr id="3" name="Text 1"/>
          <p:cNvSpPr/>
          <p:nvPr/>
        </p:nvSpPr>
        <p:spPr>
          <a:xfrm>
            <a:off x="566928" y="2560320"/>
            <a:ext cx="9509742"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Three experiments</a:t>
            </a:r>
            <a:endParaRPr lang="en-US" sz="4400" dirty="0"/>
          </a:p>
        </p:txBody>
      </p:sp>
      <p:sp>
        <p:nvSpPr>
          <p:cNvPr id="4" name="Text 2"/>
          <p:cNvSpPr/>
          <p:nvPr/>
        </p:nvSpPr>
        <p:spPr>
          <a:xfrm>
            <a:off x="566928" y="4069080"/>
            <a:ext cx="7961644" cy="914400"/>
          </a:xfrm>
          <a:prstGeom prst="rect">
            <a:avLst/>
          </a:prstGeom>
          <a:noFill/>
          <a:ln/>
        </p:spPr>
        <p:txBody>
          <a:bodyPr wrap="square" lIns="0" tIns="0" rIns="0" bIns="0" rtlCol="0" anchor="ctr"/>
          <a:lstStyle/>
          <a:p>
            <a:pPr indent="0" marL="0">
              <a:lnSpc>
                <a:spcPts val="2600"/>
              </a:lnSpc>
              <a:buNone/>
            </a:pPr>
            <a:r>
              <a:rPr lang="en-US" sz="1700" dirty="0">
                <a:solidFill>
                  <a:srgbClr val="C3D0E4"/>
                </a:solidFill>
                <a:latin typeface="Calibri" pitchFamily="34" charset="0"/>
                <a:ea typeface="Calibri" pitchFamily="34" charset="-122"/>
                <a:cs typeface="Calibri" pitchFamily="34" charset="-120"/>
              </a:rPr>
              <a:t>The most useful fifteen minutes of the session. One of these is supposed to do nothing at all.</a:t>
            </a:r>
            <a:endParaRPr lang="en-US" sz="1700" dirty="0"/>
          </a:p>
        </p:txBody>
      </p:sp>
      <p:sp>
        <p:nvSpPr>
          <p:cNvPr id="5" name="Text 3"/>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8290B8"/>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FFB627"/>
                </a:solidFill>
                <a:latin typeface="Calibri" pitchFamily="34" charset="0"/>
                <a:ea typeface="Calibri" pitchFamily="34" charset="-122"/>
                <a:cs typeface="Calibri" pitchFamily="34" charset="-120"/>
              </a:rPr>
              <a:t>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595360" cy="603504"/>
          </a:xfrm>
          <a:prstGeom prst="rect">
            <a:avLst/>
          </a:prstGeom>
          <a:noFill/>
          <a:ln/>
        </p:spPr>
        <p:txBody>
          <a:bodyPr wrap="square" lIns="0" tIns="0" rIns="0" bIns="0" rtlCol="0" anchor="ctr"/>
          <a:lstStyle/>
          <a:p>
            <a:pPr indent="0" marL="0">
              <a:buNone/>
            </a:pPr>
            <a:r>
              <a:rPr lang="en-US" sz="3200" b="1" dirty="0">
                <a:solidFill>
                  <a:srgbClr val="18222E"/>
                </a:solidFill>
                <a:latin typeface="Cambria" pitchFamily="34" charset="0"/>
                <a:ea typeface="Cambria" pitchFamily="34" charset="-122"/>
                <a:cs typeface="Cambria" pitchFamily="34" charset="-120"/>
              </a:rPr>
              <a:t>Part 4 — three experiments</a:t>
            </a:r>
            <a:endParaRPr lang="en-US" sz="3200" dirty="0"/>
          </a:p>
        </p:txBody>
      </p:sp>
      <p:sp>
        <p:nvSpPr>
          <p:cNvPr id="3" name="Shape 1"/>
          <p:cNvSpPr/>
          <p:nvPr/>
        </p:nvSpPr>
        <p:spPr>
          <a:xfrm>
            <a:off x="9601200" y="466344"/>
            <a:ext cx="2011680" cy="566928"/>
          </a:xfrm>
          <a:prstGeom prst="roundRect">
            <a:avLst>
              <a:gd name="adj" fmla="val 16129"/>
            </a:avLst>
          </a:prstGeom>
          <a:solidFill>
            <a:srgbClr val="1B2547"/>
          </a:solidFill>
          <a:ln/>
        </p:spPr>
      </p:sp>
      <p:sp>
        <p:nvSpPr>
          <p:cNvPr id="4" name="Text 2"/>
          <p:cNvSpPr/>
          <p:nvPr/>
        </p:nvSpPr>
        <p:spPr>
          <a:xfrm>
            <a:off x="9601200" y="466344"/>
            <a:ext cx="2011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 minutes</a:t>
            </a:r>
            <a:endParaRPr lang="en-US" sz="1500" dirty="0"/>
          </a:p>
        </p:txBody>
      </p:sp>
      <p:sp>
        <p:nvSpPr>
          <p:cNvPr id="5" name="Text 3"/>
          <p:cNvSpPr/>
          <p:nvPr/>
        </p:nvSpPr>
        <p:spPr>
          <a:xfrm>
            <a:off x="566928" y="1024128"/>
            <a:ext cx="8595360" cy="347472"/>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Predict what will happen before you do each one.</a:t>
            </a:r>
            <a:endParaRPr lang="en-US" sz="1500" dirty="0"/>
          </a:p>
        </p:txBody>
      </p:sp>
      <p:sp>
        <p:nvSpPr>
          <p:cNvPr id="6" name="Shape 4"/>
          <p:cNvSpPr/>
          <p:nvPr/>
        </p:nvSpPr>
        <p:spPr>
          <a:xfrm>
            <a:off x="566928" y="1463040"/>
            <a:ext cx="3538728" cy="4206240"/>
          </a:xfrm>
          <a:prstGeom prst="roundRect">
            <a:avLst>
              <a:gd name="adj" fmla="val 2326"/>
            </a:avLst>
          </a:prstGeom>
          <a:solidFill>
            <a:srgbClr val="F6F9FB"/>
          </a:solidFill>
          <a:ln/>
        </p:spPr>
      </p:sp>
      <p:sp>
        <p:nvSpPr>
          <p:cNvPr id="7" name="Shape 5"/>
          <p:cNvSpPr/>
          <p:nvPr/>
        </p:nvSpPr>
        <p:spPr>
          <a:xfrm>
            <a:off x="859536" y="1682496"/>
            <a:ext cx="512064" cy="512064"/>
          </a:xfrm>
          <a:prstGeom prst="ellipse">
            <a:avLst/>
          </a:prstGeom>
          <a:solidFill>
            <a:srgbClr val="065A82"/>
          </a:solidFill>
          <a:ln/>
        </p:spPr>
      </p:sp>
      <p:sp>
        <p:nvSpPr>
          <p:cNvPr id="8" name="Text 6"/>
          <p:cNvSpPr/>
          <p:nvPr/>
        </p:nvSpPr>
        <p:spPr>
          <a:xfrm>
            <a:off x="859536" y="168249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859536" y="2331720"/>
            <a:ext cx="2953512" cy="621792"/>
          </a:xfrm>
          <a:prstGeom prst="rect">
            <a:avLst/>
          </a:prstGeom>
          <a:noFill/>
          <a:ln/>
        </p:spPr>
        <p:txBody>
          <a:bodyPr wrap="square" lIns="0" tIns="0" rIns="0" bIns="0" rtlCol="0" anchor="ctr"/>
          <a:lstStyle/>
          <a:p>
            <a:pPr indent="0" marL="0">
              <a:lnSpc>
                <a:spcPts val="2200"/>
              </a:lnSpc>
              <a:buNone/>
            </a:pPr>
            <a:r>
              <a:rPr lang="en-US" sz="1800" b="1" dirty="0">
                <a:solidFill>
                  <a:srgbClr val="18222E"/>
                </a:solidFill>
                <a:latin typeface="Cambria" pitchFamily="34" charset="0"/>
                <a:ea typeface="Cambria" pitchFamily="34" charset="-122"/>
                <a:cs typeface="Cambria" pitchFamily="34" charset="-120"/>
              </a:rPr>
              <a:t>A normal deploy</a:t>
            </a:r>
            <a:endParaRPr lang="en-US" sz="1800" dirty="0"/>
          </a:p>
        </p:txBody>
      </p:sp>
      <p:sp>
        <p:nvSpPr>
          <p:cNvPr id="10" name="Text 8"/>
          <p:cNvSpPr/>
          <p:nvPr/>
        </p:nvSpPr>
        <p:spPr>
          <a:xfrm>
            <a:off x="859536" y="2980944"/>
            <a:ext cx="2953512" cy="256032"/>
          </a:xfrm>
          <a:prstGeom prst="rect">
            <a:avLst/>
          </a:prstGeom>
          <a:noFill/>
          <a:ln/>
        </p:spPr>
        <p:txBody>
          <a:bodyPr wrap="square" lIns="0" tIns="0" rIns="0" bIns="0" rtlCol="0" anchor="ctr"/>
          <a:lstStyle/>
          <a:p>
            <a:pPr indent="0" marL="0">
              <a:buNone/>
            </a:pPr>
            <a:r>
              <a:rPr lang="en-US" sz="1050" b="1" spc="150" kern="0" dirty="0">
                <a:solidFill>
                  <a:srgbClr val="5D6B7A"/>
                </a:solidFill>
                <a:latin typeface="Calibri" pitchFamily="34" charset="0"/>
                <a:ea typeface="Calibri" pitchFamily="34" charset="-122"/>
                <a:cs typeface="Calibri" pitchFamily="34" charset="-120"/>
              </a:rPr>
              <a:t>DO THIS</a:t>
            </a:r>
            <a:endParaRPr lang="en-US" sz="1050" dirty="0"/>
          </a:p>
        </p:txBody>
      </p:sp>
      <p:sp>
        <p:nvSpPr>
          <p:cNvPr id="11" name="Text 9"/>
          <p:cNvSpPr/>
          <p:nvPr/>
        </p:nvSpPr>
        <p:spPr>
          <a:xfrm>
            <a:off x="859536" y="3236976"/>
            <a:ext cx="2953512" cy="1005840"/>
          </a:xfrm>
          <a:prstGeom prst="rect">
            <a:avLst/>
          </a:prstGeom>
          <a:noFill/>
          <a:ln/>
        </p:spPr>
        <p:txBody>
          <a:bodyPr wrap="square" lIns="0" tIns="0" rIns="0" bIns="0" rtlCol="0" anchor="t"/>
          <a:lstStyle/>
          <a:p>
            <a:pPr indent="0" marL="0">
              <a:lnSpc>
                <a:spcPts val="1900"/>
              </a:lnSpc>
              <a:buNone/>
            </a:pPr>
            <a:r>
              <a:rPr lang="en-US" sz="1300" dirty="0">
                <a:solidFill>
                  <a:srgbClr val="18222E"/>
                </a:solidFill>
                <a:latin typeface="Calibri" pitchFamily="34" charset="0"/>
                <a:ea typeface="Calibri" pitchFamily="34" charset="-122"/>
                <a:cs typeface="Calibri" pitchFamily="34" charset="-120"/>
              </a:rPr>
              <a:t>In your styles.css, change the accent colour to  #B8336A  and commit.</a:t>
            </a:r>
            <a:endParaRPr lang="en-US" sz="1300" dirty="0"/>
          </a:p>
        </p:txBody>
      </p:sp>
      <p:sp>
        <p:nvSpPr>
          <p:cNvPr id="12" name="Text 10"/>
          <p:cNvSpPr/>
          <p:nvPr/>
        </p:nvSpPr>
        <p:spPr>
          <a:xfrm>
            <a:off x="859536" y="4315968"/>
            <a:ext cx="2953512" cy="256032"/>
          </a:xfrm>
          <a:prstGeom prst="rect">
            <a:avLst/>
          </a:prstGeom>
          <a:noFill/>
          <a:ln/>
        </p:spPr>
        <p:txBody>
          <a:bodyPr wrap="square" lIns="0" tIns="0" rIns="0" bIns="0" rtlCol="0" anchor="ctr"/>
          <a:lstStyle/>
          <a:p>
            <a:pPr indent="0" marL="0">
              <a:buNone/>
            </a:pPr>
            <a:r>
              <a:rPr lang="en-US" sz="1050" b="1" spc="150" kern="0" dirty="0">
                <a:solidFill>
                  <a:srgbClr val="065A82"/>
                </a:solidFill>
                <a:latin typeface="Calibri" pitchFamily="34" charset="0"/>
                <a:ea typeface="Calibri" pitchFamily="34" charset="-122"/>
                <a:cs typeface="Calibri" pitchFamily="34" charset="-120"/>
              </a:rPr>
              <a:t>EXPECT</a:t>
            </a:r>
            <a:endParaRPr lang="en-US" sz="1050" dirty="0"/>
          </a:p>
        </p:txBody>
      </p:sp>
      <p:sp>
        <p:nvSpPr>
          <p:cNvPr id="13" name="Text 11"/>
          <p:cNvSpPr/>
          <p:nvPr/>
        </p:nvSpPr>
        <p:spPr>
          <a:xfrm>
            <a:off x="859536" y="4572000"/>
            <a:ext cx="2953512" cy="1005840"/>
          </a:xfrm>
          <a:prstGeom prst="rect">
            <a:avLst/>
          </a:prstGeom>
          <a:noFill/>
          <a:ln/>
        </p:spPr>
        <p:txBody>
          <a:bodyPr wrap="square" lIns="0" tIns="0" rIns="0" bIns="0" rtlCol="0" anchor="t"/>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The workflow runs. Reload your live page — the colour has changed.</a:t>
            </a:r>
            <a:endParaRPr lang="en-US" sz="1300" dirty="0"/>
          </a:p>
        </p:txBody>
      </p:sp>
      <p:sp>
        <p:nvSpPr>
          <p:cNvPr id="14" name="Shape 12"/>
          <p:cNvSpPr/>
          <p:nvPr/>
        </p:nvSpPr>
        <p:spPr>
          <a:xfrm>
            <a:off x="4343400" y="1463040"/>
            <a:ext cx="3538728" cy="4206240"/>
          </a:xfrm>
          <a:prstGeom prst="roundRect">
            <a:avLst>
              <a:gd name="adj" fmla="val 2326"/>
            </a:avLst>
          </a:prstGeom>
          <a:solidFill>
            <a:srgbClr val="FFF4DC"/>
          </a:solidFill>
          <a:ln/>
        </p:spPr>
      </p:sp>
      <p:sp>
        <p:nvSpPr>
          <p:cNvPr id="15" name="Shape 13"/>
          <p:cNvSpPr/>
          <p:nvPr/>
        </p:nvSpPr>
        <p:spPr>
          <a:xfrm>
            <a:off x="4636008" y="1682496"/>
            <a:ext cx="512064" cy="512064"/>
          </a:xfrm>
          <a:prstGeom prst="ellipse">
            <a:avLst/>
          </a:prstGeom>
          <a:solidFill>
            <a:srgbClr val="FFB627"/>
          </a:solidFill>
          <a:ln/>
        </p:spPr>
      </p:sp>
      <p:sp>
        <p:nvSpPr>
          <p:cNvPr id="16" name="Text 14"/>
          <p:cNvSpPr/>
          <p:nvPr/>
        </p:nvSpPr>
        <p:spPr>
          <a:xfrm>
            <a:off x="4636008" y="1682496"/>
            <a:ext cx="512064" cy="512064"/>
          </a:xfrm>
          <a:prstGeom prst="rect">
            <a:avLst/>
          </a:prstGeom>
          <a:noFill/>
          <a:ln/>
        </p:spPr>
        <p:txBody>
          <a:bodyPr wrap="square" lIns="0" tIns="0" rIns="0" bIns="0" rtlCol="0" anchor="ctr"/>
          <a:lstStyle/>
          <a:p>
            <a:pPr algn="ctr" indent="0" marL="0">
              <a:buNone/>
            </a:pPr>
            <a:r>
              <a:rPr lang="en-US" sz="1600" b="1" dirty="0">
                <a:solidFill>
                  <a:srgbClr val="1B2547"/>
                </a:solidFill>
                <a:latin typeface="Calibri" pitchFamily="34" charset="0"/>
                <a:ea typeface="Calibri" pitchFamily="34" charset="-122"/>
                <a:cs typeface="Calibri" pitchFamily="34" charset="-120"/>
              </a:rPr>
              <a:t>B</a:t>
            </a:r>
            <a:endParaRPr lang="en-US" sz="1600" dirty="0"/>
          </a:p>
        </p:txBody>
      </p:sp>
      <p:sp>
        <p:nvSpPr>
          <p:cNvPr id="17" name="Text 15"/>
          <p:cNvSpPr/>
          <p:nvPr/>
        </p:nvSpPr>
        <p:spPr>
          <a:xfrm>
            <a:off x="4636008" y="2331720"/>
            <a:ext cx="2953512" cy="621792"/>
          </a:xfrm>
          <a:prstGeom prst="rect">
            <a:avLst/>
          </a:prstGeom>
          <a:noFill/>
          <a:ln/>
        </p:spPr>
        <p:txBody>
          <a:bodyPr wrap="square" lIns="0" tIns="0" rIns="0" bIns="0" rtlCol="0" anchor="ctr"/>
          <a:lstStyle/>
          <a:p>
            <a:pPr indent="0" marL="0">
              <a:lnSpc>
                <a:spcPts val="2200"/>
              </a:lnSpc>
              <a:buNone/>
            </a:pPr>
            <a:r>
              <a:rPr lang="en-US" sz="1800" b="1" dirty="0">
                <a:solidFill>
                  <a:srgbClr val="18222E"/>
                </a:solidFill>
                <a:latin typeface="Cambria" pitchFamily="34" charset="0"/>
                <a:ea typeface="Cambria" pitchFamily="34" charset="-122"/>
                <a:cs typeface="Cambria" pitchFamily="34" charset="-120"/>
              </a:rPr>
              <a:t>The one that does nothing</a:t>
            </a:r>
            <a:endParaRPr lang="en-US" sz="1800" dirty="0"/>
          </a:p>
        </p:txBody>
      </p:sp>
      <p:sp>
        <p:nvSpPr>
          <p:cNvPr id="18" name="Text 16"/>
          <p:cNvSpPr/>
          <p:nvPr/>
        </p:nvSpPr>
        <p:spPr>
          <a:xfrm>
            <a:off x="4636008" y="2980944"/>
            <a:ext cx="2953512" cy="256032"/>
          </a:xfrm>
          <a:prstGeom prst="rect">
            <a:avLst/>
          </a:prstGeom>
          <a:noFill/>
          <a:ln/>
        </p:spPr>
        <p:txBody>
          <a:bodyPr wrap="square" lIns="0" tIns="0" rIns="0" bIns="0" rtlCol="0" anchor="ctr"/>
          <a:lstStyle/>
          <a:p>
            <a:pPr indent="0" marL="0">
              <a:buNone/>
            </a:pPr>
            <a:r>
              <a:rPr lang="en-US" sz="1050" b="1" spc="150" kern="0" dirty="0">
                <a:solidFill>
                  <a:srgbClr val="5D6B7A"/>
                </a:solidFill>
                <a:latin typeface="Calibri" pitchFamily="34" charset="0"/>
                <a:ea typeface="Calibri" pitchFamily="34" charset="-122"/>
                <a:cs typeface="Calibri" pitchFamily="34" charset="-120"/>
              </a:rPr>
              <a:t>DO THIS</a:t>
            </a:r>
            <a:endParaRPr lang="en-US" sz="1050" dirty="0"/>
          </a:p>
        </p:txBody>
      </p:sp>
      <p:sp>
        <p:nvSpPr>
          <p:cNvPr id="19" name="Text 17"/>
          <p:cNvSpPr/>
          <p:nvPr/>
        </p:nvSpPr>
        <p:spPr>
          <a:xfrm>
            <a:off x="4636008" y="3236976"/>
            <a:ext cx="2953512" cy="1005840"/>
          </a:xfrm>
          <a:prstGeom prst="rect">
            <a:avLst/>
          </a:prstGeom>
          <a:noFill/>
          <a:ln/>
        </p:spPr>
        <p:txBody>
          <a:bodyPr wrap="square" lIns="0" tIns="0" rIns="0" bIns="0" rtlCol="0" anchor="t"/>
          <a:lstStyle/>
          <a:p>
            <a:pPr indent="0" marL="0">
              <a:lnSpc>
                <a:spcPts val="1900"/>
              </a:lnSpc>
              <a:buNone/>
            </a:pPr>
            <a:r>
              <a:rPr lang="en-US" sz="1300" dirty="0">
                <a:solidFill>
                  <a:srgbClr val="18222E"/>
                </a:solidFill>
                <a:latin typeface="Calibri" pitchFamily="34" charset="0"/>
                <a:ea typeface="Calibri" pitchFamily="34" charset="-122"/>
                <a:cs typeface="Calibri" pitchFamily="34" charset="-120"/>
              </a:rPr>
              <a:t>Create a file in the top level of the repo called  notes.md  with any text. Commit it.</a:t>
            </a:r>
            <a:endParaRPr lang="en-US" sz="1300" dirty="0"/>
          </a:p>
        </p:txBody>
      </p:sp>
      <p:sp>
        <p:nvSpPr>
          <p:cNvPr id="20" name="Text 18"/>
          <p:cNvSpPr/>
          <p:nvPr/>
        </p:nvSpPr>
        <p:spPr>
          <a:xfrm>
            <a:off x="4636008" y="4315968"/>
            <a:ext cx="2953512" cy="256032"/>
          </a:xfrm>
          <a:prstGeom prst="rect">
            <a:avLst/>
          </a:prstGeom>
          <a:noFill/>
          <a:ln/>
        </p:spPr>
        <p:txBody>
          <a:bodyPr wrap="square" lIns="0" tIns="0" rIns="0" bIns="0" rtlCol="0" anchor="ctr"/>
          <a:lstStyle/>
          <a:p>
            <a:pPr indent="0" marL="0">
              <a:buNone/>
            </a:pPr>
            <a:r>
              <a:rPr lang="en-US" sz="1050" b="1" spc="150" kern="0" dirty="0">
                <a:solidFill>
                  <a:srgbClr val="7A5410"/>
                </a:solidFill>
                <a:latin typeface="Calibri" pitchFamily="34" charset="0"/>
                <a:ea typeface="Calibri" pitchFamily="34" charset="-122"/>
                <a:cs typeface="Calibri" pitchFamily="34" charset="-120"/>
              </a:rPr>
              <a:t>EXPECT</a:t>
            </a:r>
            <a:endParaRPr lang="en-US" sz="1050" dirty="0"/>
          </a:p>
        </p:txBody>
      </p:sp>
      <p:sp>
        <p:nvSpPr>
          <p:cNvPr id="21" name="Text 19"/>
          <p:cNvSpPr/>
          <p:nvPr/>
        </p:nvSpPr>
        <p:spPr>
          <a:xfrm>
            <a:off x="4636008" y="4572000"/>
            <a:ext cx="2953512" cy="1005840"/>
          </a:xfrm>
          <a:prstGeom prst="rect">
            <a:avLst/>
          </a:prstGeom>
          <a:noFill/>
          <a:ln/>
        </p:spPr>
        <p:txBody>
          <a:bodyPr wrap="square" lIns="0" tIns="0" rIns="0" bIns="0" rtlCol="0" anchor="t"/>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No run appears at all — the change was outside the watched folder.</a:t>
            </a:r>
            <a:endParaRPr lang="en-US" sz="1300" dirty="0"/>
          </a:p>
        </p:txBody>
      </p:sp>
      <p:sp>
        <p:nvSpPr>
          <p:cNvPr id="22" name="Shape 20"/>
          <p:cNvSpPr/>
          <p:nvPr/>
        </p:nvSpPr>
        <p:spPr>
          <a:xfrm>
            <a:off x="8119872" y="1463040"/>
            <a:ext cx="3538728" cy="4206240"/>
          </a:xfrm>
          <a:prstGeom prst="roundRect">
            <a:avLst>
              <a:gd name="adj" fmla="val 2326"/>
            </a:avLst>
          </a:prstGeom>
          <a:solidFill>
            <a:srgbClr val="F6F9FB"/>
          </a:solidFill>
          <a:ln/>
        </p:spPr>
      </p:sp>
      <p:sp>
        <p:nvSpPr>
          <p:cNvPr id="23" name="Shape 21"/>
          <p:cNvSpPr/>
          <p:nvPr/>
        </p:nvSpPr>
        <p:spPr>
          <a:xfrm>
            <a:off x="8412480" y="1682496"/>
            <a:ext cx="512064" cy="512064"/>
          </a:xfrm>
          <a:prstGeom prst="ellipse">
            <a:avLst/>
          </a:prstGeom>
          <a:solidFill>
            <a:srgbClr val="1C7293"/>
          </a:solidFill>
          <a:ln/>
        </p:spPr>
      </p:sp>
      <p:sp>
        <p:nvSpPr>
          <p:cNvPr id="24" name="Text 22"/>
          <p:cNvSpPr/>
          <p:nvPr/>
        </p:nvSpPr>
        <p:spPr>
          <a:xfrm>
            <a:off x="8412480" y="168249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25" name="Text 23"/>
          <p:cNvSpPr/>
          <p:nvPr/>
        </p:nvSpPr>
        <p:spPr>
          <a:xfrm>
            <a:off x="8412480" y="2331720"/>
            <a:ext cx="2953512" cy="621792"/>
          </a:xfrm>
          <a:prstGeom prst="rect">
            <a:avLst/>
          </a:prstGeom>
          <a:noFill/>
          <a:ln/>
        </p:spPr>
        <p:txBody>
          <a:bodyPr wrap="square" lIns="0" tIns="0" rIns="0" bIns="0" rtlCol="0" anchor="ctr"/>
          <a:lstStyle/>
          <a:p>
            <a:pPr indent="0" marL="0">
              <a:lnSpc>
                <a:spcPts val="2200"/>
              </a:lnSpc>
              <a:buNone/>
            </a:pPr>
            <a:r>
              <a:rPr lang="en-US" sz="1800" b="1" dirty="0">
                <a:solidFill>
                  <a:srgbClr val="18222E"/>
                </a:solidFill>
                <a:latin typeface="Cambria" pitchFamily="34" charset="0"/>
                <a:ea typeface="Cambria" pitchFamily="34" charset="-122"/>
                <a:cs typeface="Cambria" pitchFamily="34" charset="-120"/>
              </a:rPr>
              <a:t>The manual button</a:t>
            </a:r>
            <a:endParaRPr lang="en-US" sz="1800" dirty="0"/>
          </a:p>
        </p:txBody>
      </p:sp>
      <p:sp>
        <p:nvSpPr>
          <p:cNvPr id="26" name="Text 24"/>
          <p:cNvSpPr/>
          <p:nvPr/>
        </p:nvSpPr>
        <p:spPr>
          <a:xfrm>
            <a:off x="8412480" y="2980944"/>
            <a:ext cx="2953512" cy="256032"/>
          </a:xfrm>
          <a:prstGeom prst="rect">
            <a:avLst/>
          </a:prstGeom>
          <a:noFill/>
          <a:ln/>
        </p:spPr>
        <p:txBody>
          <a:bodyPr wrap="square" lIns="0" tIns="0" rIns="0" bIns="0" rtlCol="0" anchor="ctr"/>
          <a:lstStyle/>
          <a:p>
            <a:pPr indent="0" marL="0">
              <a:buNone/>
            </a:pPr>
            <a:r>
              <a:rPr lang="en-US" sz="1050" b="1" spc="150" kern="0" dirty="0">
                <a:solidFill>
                  <a:srgbClr val="5D6B7A"/>
                </a:solidFill>
                <a:latin typeface="Calibri" pitchFamily="34" charset="0"/>
                <a:ea typeface="Calibri" pitchFamily="34" charset="-122"/>
                <a:cs typeface="Calibri" pitchFamily="34" charset="-120"/>
              </a:rPr>
              <a:t>DO THIS</a:t>
            </a:r>
            <a:endParaRPr lang="en-US" sz="1050" dirty="0"/>
          </a:p>
        </p:txBody>
      </p:sp>
      <p:sp>
        <p:nvSpPr>
          <p:cNvPr id="27" name="Text 25"/>
          <p:cNvSpPr/>
          <p:nvPr/>
        </p:nvSpPr>
        <p:spPr>
          <a:xfrm>
            <a:off x="8412480" y="3236976"/>
            <a:ext cx="2953512" cy="1005840"/>
          </a:xfrm>
          <a:prstGeom prst="rect">
            <a:avLst/>
          </a:prstGeom>
          <a:noFill/>
          <a:ln/>
        </p:spPr>
        <p:txBody>
          <a:bodyPr wrap="square" lIns="0" tIns="0" rIns="0" bIns="0" rtlCol="0" anchor="t"/>
          <a:lstStyle/>
          <a:p>
            <a:pPr indent="0" marL="0">
              <a:lnSpc>
                <a:spcPts val="1900"/>
              </a:lnSpc>
              <a:buNone/>
            </a:pPr>
            <a:r>
              <a:rPr lang="en-US" sz="1300" dirty="0">
                <a:solidFill>
                  <a:srgbClr val="18222E"/>
                </a:solidFill>
                <a:latin typeface="Calibri" pitchFamily="34" charset="0"/>
                <a:ea typeface="Calibri" pitchFamily="34" charset="-122"/>
                <a:cs typeface="Calibri" pitchFamily="34" charset="-120"/>
              </a:rPr>
              <a:t>Actions → “Deploy folder to Azure Storage” → Run workflow. Pick main, leave the box empty.</a:t>
            </a:r>
            <a:endParaRPr lang="en-US" sz="1300" dirty="0"/>
          </a:p>
        </p:txBody>
      </p:sp>
      <p:sp>
        <p:nvSpPr>
          <p:cNvPr id="28" name="Text 26"/>
          <p:cNvSpPr/>
          <p:nvPr/>
        </p:nvSpPr>
        <p:spPr>
          <a:xfrm>
            <a:off x="8412480" y="4315968"/>
            <a:ext cx="2953512" cy="256032"/>
          </a:xfrm>
          <a:prstGeom prst="rect">
            <a:avLst/>
          </a:prstGeom>
          <a:noFill/>
          <a:ln/>
        </p:spPr>
        <p:txBody>
          <a:bodyPr wrap="square" lIns="0" tIns="0" rIns="0" bIns="0" rtlCol="0" anchor="ctr"/>
          <a:lstStyle/>
          <a:p>
            <a:pPr indent="0" marL="0">
              <a:buNone/>
            </a:pPr>
            <a:r>
              <a:rPr lang="en-US" sz="1050" b="1" spc="150" kern="0" dirty="0">
                <a:solidFill>
                  <a:srgbClr val="1C7293"/>
                </a:solidFill>
                <a:latin typeface="Calibri" pitchFamily="34" charset="0"/>
                <a:ea typeface="Calibri" pitchFamily="34" charset="-122"/>
                <a:cs typeface="Calibri" pitchFamily="34" charset="-120"/>
              </a:rPr>
              <a:t>EXPECT</a:t>
            </a:r>
            <a:endParaRPr lang="en-US" sz="1050" dirty="0"/>
          </a:p>
        </p:txBody>
      </p:sp>
      <p:sp>
        <p:nvSpPr>
          <p:cNvPr id="29" name="Text 27"/>
          <p:cNvSpPr/>
          <p:nvPr/>
        </p:nvSpPr>
        <p:spPr>
          <a:xfrm>
            <a:off x="8412480" y="4572000"/>
            <a:ext cx="2953512" cy="1005840"/>
          </a:xfrm>
          <a:prstGeom prst="rect">
            <a:avLst/>
          </a:prstGeom>
          <a:noFill/>
          <a:ln/>
        </p:spPr>
        <p:txBody>
          <a:bodyPr wrap="square" lIns="0" tIns="0" rIns="0" bIns="0" rtlCol="0" anchor="t"/>
          <a:lstStyle/>
          <a:p>
            <a:pPr indent="0" marL="0">
              <a:lnSpc>
                <a:spcPts val="1900"/>
              </a:lnSpc>
              <a:buNone/>
            </a:pPr>
            <a:r>
              <a:rPr lang="en-US" sz="1300" dirty="0">
                <a:solidFill>
                  <a:srgbClr val="5D6B7A"/>
                </a:solidFill>
                <a:latin typeface="Calibri" pitchFamily="34" charset="0"/>
                <a:ea typeface="Calibri" pitchFamily="34" charset="-122"/>
                <a:cs typeface="Calibri" pitchFamily="34" charset="-120"/>
              </a:rPr>
              <a:t>It deploys again with no code change. Then try a neighbour’s folder name in the box.</a:t>
            </a:r>
            <a:endParaRPr lang="en-US" sz="1300" dirty="0"/>
          </a:p>
        </p:txBody>
      </p:sp>
      <p:sp>
        <p:nvSpPr>
          <p:cNvPr id="30" name="Text 28"/>
          <p:cNvSpPr/>
          <p:nvPr/>
        </p:nvSpPr>
        <p:spPr>
          <a:xfrm>
            <a:off x="566928" y="5870448"/>
            <a:ext cx="11057839" cy="329184"/>
          </a:xfrm>
          <a:prstGeom prst="rect">
            <a:avLst/>
          </a:prstGeom>
          <a:noFill/>
          <a:ln/>
        </p:spPr>
        <p:txBody>
          <a:bodyPr wrap="square" lIns="0" tIns="0" rIns="0" bIns="0" rtlCol="0" anchor="ctr"/>
          <a:lstStyle/>
          <a:p>
            <a:pPr indent="0" marL="0">
              <a:buNone/>
            </a:pPr>
            <a:r>
              <a:rPr lang="en-US" sz="1400" b="1" i="1" dirty="0">
                <a:solidFill>
                  <a:srgbClr val="065A82"/>
                </a:solidFill>
                <a:latin typeface="Calibri" pitchFamily="34" charset="0"/>
                <a:ea typeface="Calibri" pitchFamily="34" charset="-122"/>
                <a:cs typeface="Calibri" pitchFamily="34" charset="-120"/>
              </a:rPr>
              <a:t>Do all three, including B. Especially B.</a:t>
            </a:r>
            <a:endParaRPr lang="en-US" sz="1400" dirty="0"/>
          </a:p>
        </p:txBody>
      </p:sp>
      <p:sp>
        <p:nvSpPr>
          <p:cNvPr id="31" name="Text 29"/>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Why experiment B matters</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A system that correctly does nothing is doing real work.</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18</a:t>
            </a:r>
            <a:endParaRPr lang="en-US" sz="1000" dirty="0"/>
          </a:p>
        </p:txBody>
      </p:sp>
      <p:sp>
        <p:nvSpPr>
          <p:cNvPr id="5" name="Text 3"/>
          <p:cNvSpPr/>
          <p:nvPr/>
        </p:nvSpPr>
        <p:spPr>
          <a:xfrm>
            <a:off x="566928" y="1645920"/>
            <a:ext cx="5943600" cy="3566160"/>
          </a:xfrm>
          <a:prstGeom prst="rect">
            <a:avLst/>
          </a:prstGeom>
          <a:noFill/>
          <a:ln/>
        </p:spPr>
        <p:txBody>
          <a:bodyPr wrap="square" lIns="0" tIns="0" rIns="0" bIns="0" rtlCol="0" anchor="ctr"/>
          <a:lstStyle/>
          <a:p>
            <a:pPr indent="0" marL="0">
              <a:lnSpc>
                <a:spcPts val="2300"/>
              </a:lnSpc>
              <a:buNone/>
            </a:pPr>
            <a:r>
              <a:rPr lang="en-US" sz="1500" b="1" dirty="0">
                <a:solidFill>
                  <a:srgbClr val="18222E"/>
                </a:solidFill>
                <a:latin typeface="Calibri" pitchFamily="34" charset="0"/>
                <a:ea typeface="Calibri" pitchFamily="34" charset="-122"/>
                <a:cs typeface="Calibri" pitchFamily="34" charset="-120"/>
              </a:rPr>
              <a:t>Picture this repository in six months.</a:t>
            </a:r>
            <a:endParaRPr lang="en-US" sz="1500" dirty="0"/>
          </a:p>
          <a:p>
            <a:pPr indent="0" marL="0">
              <a:lnSpc>
                <a:spcPts val="2300"/>
              </a:lnSpc>
              <a:buNone/>
            </a:pPr>
            <a:endParaRPr lang="en-US" sz="1500" dirty="0"/>
          </a:p>
          <a:p>
            <a:pPr indent="0" marL="0">
              <a:lnSpc>
                <a:spcPts val="2300"/>
              </a:lnSpc>
              <a:buNone/>
            </a:pPr>
            <a:r>
              <a:rPr lang="en-US" sz="1500" dirty="0">
                <a:solidFill>
                  <a:srgbClr val="18222E"/>
                </a:solidFill>
                <a:latin typeface="Calibri" pitchFamily="34" charset="0"/>
                <a:ea typeface="Calibri" pitchFamily="34" charset="-122"/>
                <a:cs typeface="Calibri" pitchFamily="34" charset="-120"/>
              </a:rPr>
              <a:t>It holds far more than the website: documentation, tests, configuration, build scripts, a README somebody edits every week.</a:t>
            </a:r>
            <a:endParaRPr lang="en-US" sz="1500" dirty="0"/>
          </a:p>
          <a:p>
            <a:pPr indent="0" marL="0">
              <a:lnSpc>
                <a:spcPts val="2300"/>
              </a:lnSpc>
              <a:buNone/>
            </a:pPr>
            <a:endParaRPr lang="en-US" sz="1500" dirty="0"/>
          </a:p>
          <a:p>
            <a:pPr indent="0" marL="0">
              <a:lnSpc>
                <a:spcPts val="2300"/>
              </a:lnSpc>
              <a:buNone/>
            </a:pPr>
            <a:r>
              <a:rPr lang="en-US" sz="1500" dirty="0">
                <a:solidFill>
                  <a:srgbClr val="18222E"/>
                </a:solidFill>
                <a:latin typeface="Calibri" pitchFamily="34" charset="0"/>
                <a:ea typeface="Calibri" pitchFamily="34" charset="-122"/>
                <a:cs typeface="Calibri" pitchFamily="34" charset="-120"/>
              </a:rPr>
              <a:t>Without the paths filter, every single one of those commits would redeploy everybody's work. Twenty times the cost, twenty times the waiting, and no way to tell whose change broke what.</a:t>
            </a:r>
            <a:endParaRPr lang="en-US" sz="1500" dirty="0"/>
          </a:p>
          <a:p>
            <a:pPr indent="0" marL="0">
              <a:lnSpc>
                <a:spcPts val="2300"/>
              </a:lnSpc>
              <a:buNone/>
            </a:pPr>
            <a:endParaRPr lang="en-US" sz="1500" dirty="0"/>
          </a:p>
          <a:p>
            <a:pPr indent="0" marL="0">
              <a:lnSpc>
                <a:spcPts val="2300"/>
              </a:lnSpc>
              <a:buNone/>
            </a:pPr>
            <a:r>
              <a:rPr lang="en-US" sz="1500" b="1" dirty="0">
                <a:solidFill>
                  <a:srgbClr val="18222E"/>
                </a:solidFill>
                <a:latin typeface="Calibri" pitchFamily="34" charset="0"/>
                <a:ea typeface="Calibri" pitchFamily="34" charset="-122"/>
                <a:cs typeface="Calibri" pitchFamily="34" charset="-120"/>
              </a:rPr>
              <a:t>The filter is what keeps a deploy meaning something.</a:t>
            </a:r>
            <a:endParaRPr lang="en-US" sz="1500" dirty="0"/>
          </a:p>
        </p:txBody>
      </p:sp>
      <p:sp>
        <p:nvSpPr>
          <p:cNvPr id="6" name="Shape 4"/>
          <p:cNvSpPr/>
          <p:nvPr/>
        </p:nvSpPr>
        <p:spPr>
          <a:xfrm>
            <a:off x="6903720" y="1645920"/>
            <a:ext cx="4721047" cy="1645920"/>
          </a:xfrm>
          <a:prstGeom prst="roundRect">
            <a:avLst>
              <a:gd name="adj" fmla="val 5000"/>
            </a:avLst>
          </a:prstGeom>
          <a:solidFill>
            <a:srgbClr val="EDF3F7"/>
          </a:solidFill>
          <a:ln/>
        </p:spPr>
      </p:sp>
      <p:sp>
        <p:nvSpPr>
          <p:cNvPr id="7" name="Text 5"/>
          <p:cNvSpPr/>
          <p:nvPr/>
        </p:nvSpPr>
        <p:spPr>
          <a:xfrm>
            <a:off x="7196328" y="1901952"/>
            <a:ext cx="4135831" cy="640080"/>
          </a:xfrm>
          <a:prstGeom prst="rect">
            <a:avLst/>
          </a:prstGeom>
          <a:noFill/>
          <a:ln/>
        </p:spPr>
        <p:txBody>
          <a:bodyPr wrap="square" lIns="0" tIns="0" rIns="0" bIns="0" rtlCol="0" anchor="ctr"/>
          <a:lstStyle/>
          <a:p>
            <a:pPr indent="0" marL="0">
              <a:lnSpc>
                <a:spcPts val="2200"/>
              </a:lnSpc>
              <a:buNone/>
            </a:pPr>
            <a:r>
              <a:rPr lang="en-US" sz="1800" b="1" dirty="0">
                <a:solidFill>
                  <a:srgbClr val="18222E"/>
                </a:solidFill>
                <a:latin typeface="Cambria" pitchFamily="34" charset="0"/>
                <a:ea typeface="Cambria" pitchFamily="34" charset="-122"/>
                <a:cs typeface="Cambria" pitchFamily="34" charset="-120"/>
              </a:rPr>
              <a:t>Change inside your folder</a:t>
            </a:r>
            <a:endParaRPr lang="en-US" sz="1800" dirty="0"/>
          </a:p>
        </p:txBody>
      </p:sp>
      <p:sp>
        <p:nvSpPr>
          <p:cNvPr id="8" name="Text 6"/>
          <p:cNvSpPr/>
          <p:nvPr/>
        </p:nvSpPr>
        <p:spPr>
          <a:xfrm>
            <a:off x="7196328" y="2560320"/>
            <a:ext cx="4135831" cy="5486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A run starts. Your folder deploys.</a:t>
            </a:r>
            <a:endParaRPr lang="en-US" sz="1400" dirty="0"/>
          </a:p>
        </p:txBody>
      </p:sp>
      <p:sp>
        <p:nvSpPr>
          <p:cNvPr id="9" name="Shape 7"/>
          <p:cNvSpPr/>
          <p:nvPr/>
        </p:nvSpPr>
        <p:spPr>
          <a:xfrm>
            <a:off x="6903720" y="3520440"/>
            <a:ext cx="4721047" cy="1645920"/>
          </a:xfrm>
          <a:prstGeom prst="roundRect">
            <a:avLst>
              <a:gd name="adj" fmla="val 5000"/>
            </a:avLst>
          </a:prstGeom>
          <a:solidFill>
            <a:srgbClr val="FFF4DC"/>
          </a:solidFill>
          <a:ln/>
        </p:spPr>
      </p:sp>
      <p:sp>
        <p:nvSpPr>
          <p:cNvPr id="10" name="Text 8"/>
          <p:cNvSpPr/>
          <p:nvPr/>
        </p:nvSpPr>
        <p:spPr>
          <a:xfrm>
            <a:off x="7196328" y="3776472"/>
            <a:ext cx="4135831" cy="640080"/>
          </a:xfrm>
          <a:prstGeom prst="rect">
            <a:avLst/>
          </a:prstGeom>
          <a:noFill/>
          <a:ln/>
        </p:spPr>
        <p:txBody>
          <a:bodyPr wrap="square" lIns="0" tIns="0" rIns="0" bIns="0" rtlCol="0" anchor="ctr"/>
          <a:lstStyle/>
          <a:p>
            <a:pPr indent="0" marL="0">
              <a:lnSpc>
                <a:spcPts val="2200"/>
              </a:lnSpc>
              <a:buNone/>
            </a:pPr>
            <a:r>
              <a:rPr lang="en-US" sz="1800" b="1" dirty="0">
                <a:solidFill>
                  <a:srgbClr val="18222E"/>
                </a:solidFill>
                <a:latin typeface="Cambria" pitchFamily="34" charset="0"/>
                <a:ea typeface="Cambria" pitchFamily="34" charset="-122"/>
                <a:cs typeface="Cambria" pitchFamily="34" charset="-120"/>
              </a:rPr>
              <a:t>Change anywhere else</a:t>
            </a:r>
            <a:endParaRPr lang="en-US" sz="1800" dirty="0"/>
          </a:p>
        </p:txBody>
      </p:sp>
      <p:sp>
        <p:nvSpPr>
          <p:cNvPr id="11" name="Text 9"/>
          <p:cNvSpPr/>
          <p:nvPr/>
        </p:nvSpPr>
        <p:spPr>
          <a:xfrm>
            <a:off x="7196328" y="4434840"/>
            <a:ext cx="4135831" cy="548640"/>
          </a:xfrm>
          <a:prstGeom prst="rect">
            <a:avLst/>
          </a:prstGeom>
          <a:noFill/>
          <a:ln/>
        </p:spPr>
        <p:txBody>
          <a:bodyPr wrap="square" lIns="0" tIns="0" rIns="0" bIns="0" rtlCol="0" anchor="ctr"/>
          <a:lstStyle/>
          <a:p>
            <a:pPr indent="0" marL="0">
              <a:buNone/>
            </a:pPr>
            <a:r>
              <a:rPr lang="en-US" sz="1400" b="1" dirty="0">
                <a:solidFill>
                  <a:srgbClr val="7A5410"/>
                </a:solidFill>
                <a:latin typeface="Calibri" pitchFamily="34" charset="0"/>
                <a:ea typeface="Calibri" pitchFamily="34" charset="-122"/>
                <a:cs typeface="Calibri" pitchFamily="34" charset="-120"/>
              </a:rPr>
              <a:t>Nothing happens. Correctly.</a:t>
            </a:r>
            <a:endParaRPr lang="en-US" sz="1400" dirty="0"/>
          </a:p>
        </p:txBody>
      </p:sp>
      <p:sp>
        <p:nvSpPr>
          <p:cNvPr id="12" name="Text 10"/>
          <p:cNvSpPr/>
          <p:nvPr/>
        </p:nvSpPr>
        <p:spPr>
          <a:xfrm>
            <a:off x="566928" y="5577840"/>
            <a:ext cx="11057839" cy="548640"/>
          </a:xfrm>
          <a:prstGeom prst="rect">
            <a:avLst/>
          </a:prstGeom>
          <a:noFill/>
          <a:ln/>
        </p:spPr>
        <p:txBody>
          <a:bodyPr wrap="square" lIns="0" tIns="0" rIns="0" bIns="0" rtlCol="0" anchor="ctr"/>
          <a:lstStyle/>
          <a:p>
            <a:pPr indent="0" marL="0">
              <a:buNone/>
            </a:pPr>
            <a:r>
              <a:rPr lang="en-US" sz="1400" i="1" dirty="0">
                <a:solidFill>
                  <a:srgbClr val="065A82"/>
                </a:solidFill>
                <a:latin typeface="Calibri" pitchFamily="34" charset="0"/>
                <a:ea typeface="Calibri" pitchFamily="34" charset="-122"/>
                <a:cs typeface="Calibri" pitchFamily="34" charset="-120"/>
              </a:rPr>
              <a:t>“Nothing happened” is the hardest failure to diagnose — and the first thing to check is whether anything was supposed to happen at all.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If it breaks</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Almost every failure in this workshop is one of these five.</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19</a:t>
            </a:r>
            <a:endParaRPr lang="en-US" sz="1000" dirty="0"/>
          </a:p>
        </p:txBody>
      </p:sp>
      <p:sp>
        <p:nvSpPr>
          <p:cNvPr id="5" name="Shape 3"/>
          <p:cNvSpPr/>
          <p:nvPr/>
        </p:nvSpPr>
        <p:spPr>
          <a:xfrm>
            <a:off x="566928" y="1645920"/>
            <a:ext cx="11057839" cy="731520"/>
          </a:xfrm>
          <a:prstGeom prst="roundRect">
            <a:avLst>
              <a:gd name="adj" fmla="val 11250"/>
            </a:avLst>
          </a:prstGeom>
          <a:solidFill>
            <a:srgbClr val="EDF3F7"/>
          </a:solidFill>
          <a:ln/>
        </p:spPr>
      </p:sp>
      <p:sp>
        <p:nvSpPr>
          <p:cNvPr id="6" name="Text 4"/>
          <p:cNvSpPr/>
          <p:nvPr/>
        </p:nvSpPr>
        <p:spPr>
          <a:xfrm>
            <a:off x="859536" y="1819656"/>
            <a:ext cx="3931920" cy="402336"/>
          </a:xfrm>
          <a:prstGeom prst="rect">
            <a:avLst/>
          </a:prstGeom>
          <a:noFill/>
          <a:ln/>
        </p:spPr>
        <p:txBody>
          <a:bodyPr wrap="square" lIns="0" tIns="0" rIns="0" bIns="0" rtlCol="0" anchor="ctr"/>
          <a:lstStyle/>
          <a:p>
            <a:pPr indent="0" marL="0">
              <a:buNone/>
            </a:pPr>
            <a:r>
              <a:rPr lang="en-US" sz="1450" b="1" dirty="0">
                <a:solidFill>
                  <a:srgbClr val="18222E"/>
                </a:solidFill>
                <a:latin typeface="Calibri" pitchFamily="34" charset="0"/>
                <a:ea typeface="Calibri" pitchFamily="34" charset="-122"/>
                <a:cs typeface="Calibri" pitchFamily="34" charset="-120"/>
              </a:rPr>
              <a:t>No run appears at all</a:t>
            </a:r>
            <a:endParaRPr lang="en-US" sz="1450" dirty="0"/>
          </a:p>
        </p:txBody>
      </p:sp>
      <p:sp>
        <p:nvSpPr>
          <p:cNvPr id="7" name="Text 5"/>
          <p:cNvSpPr/>
          <p:nvPr/>
        </p:nvSpPr>
        <p:spPr>
          <a:xfrm>
            <a:off x="4956048" y="1755648"/>
            <a:ext cx="6348679" cy="530352"/>
          </a:xfrm>
          <a:prstGeom prst="rect">
            <a:avLst/>
          </a:prstGeom>
          <a:noFill/>
          <a:ln/>
        </p:spPr>
        <p:txBody>
          <a:bodyPr wrap="square" lIns="0" tIns="0" rIns="0" bIns="0" rtlCol="0" anchor="ctr"/>
          <a:lstStyle/>
          <a:p>
            <a:pPr indent="0" marL="0">
              <a:lnSpc>
                <a:spcPts val="1800"/>
              </a:lnSpc>
              <a:buNone/>
            </a:pPr>
            <a:r>
              <a:rPr lang="en-US" sz="1350" dirty="0">
                <a:solidFill>
                  <a:srgbClr val="5D6B7A"/>
                </a:solidFill>
                <a:latin typeface="Calibri" pitchFamily="34" charset="0"/>
                <a:ea typeface="Calibri" pitchFamily="34" charset="-122"/>
                <a:cs typeface="Calibri" pitchFamily="34" charset="-120"/>
              </a:rPr>
              <a:t>Either Actions is still disabled in your fork (Part 0, step 2), or the change was outside the watched folder — experiment B.</a:t>
            </a:r>
            <a:endParaRPr lang="en-US" sz="1350" dirty="0"/>
          </a:p>
        </p:txBody>
      </p:sp>
      <p:sp>
        <p:nvSpPr>
          <p:cNvPr id="8" name="Shape 6"/>
          <p:cNvSpPr/>
          <p:nvPr/>
        </p:nvSpPr>
        <p:spPr>
          <a:xfrm>
            <a:off x="566928" y="2505456"/>
            <a:ext cx="11057839" cy="731520"/>
          </a:xfrm>
          <a:prstGeom prst="roundRect">
            <a:avLst>
              <a:gd name="adj" fmla="val 11250"/>
            </a:avLst>
          </a:prstGeom>
          <a:solidFill>
            <a:srgbClr val="F6F9FB"/>
          </a:solidFill>
          <a:ln/>
        </p:spPr>
      </p:sp>
      <p:sp>
        <p:nvSpPr>
          <p:cNvPr id="9" name="Text 7"/>
          <p:cNvSpPr/>
          <p:nvPr/>
        </p:nvSpPr>
        <p:spPr>
          <a:xfrm>
            <a:off x="859536" y="2679192"/>
            <a:ext cx="3931920" cy="402336"/>
          </a:xfrm>
          <a:prstGeom prst="rect">
            <a:avLst/>
          </a:prstGeom>
          <a:noFill/>
          <a:ln/>
        </p:spPr>
        <p:txBody>
          <a:bodyPr wrap="square" lIns="0" tIns="0" rIns="0" bIns="0" rtlCol="0" anchor="ctr"/>
          <a:lstStyle/>
          <a:p>
            <a:pPr indent="0" marL="0">
              <a:buNone/>
            </a:pPr>
            <a:r>
              <a:rPr lang="en-US" sz="1450" b="1" dirty="0">
                <a:solidFill>
                  <a:srgbClr val="18222E"/>
                </a:solidFill>
                <a:latin typeface="Calibri" pitchFamily="34" charset="0"/>
                <a:ea typeface="Calibri" pitchFamily="34" charset="-122"/>
                <a:cs typeface="Calibri" pitchFamily="34" charset="-120"/>
              </a:rPr>
              <a:t>“Folder … does not exist”</a:t>
            </a:r>
            <a:endParaRPr lang="en-US" sz="1450" dirty="0"/>
          </a:p>
        </p:txBody>
      </p:sp>
      <p:sp>
        <p:nvSpPr>
          <p:cNvPr id="10" name="Text 8"/>
          <p:cNvSpPr/>
          <p:nvPr/>
        </p:nvSpPr>
        <p:spPr>
          <a:xfrm>
            <a:off x="4956048" y="2615184"/>
            <a:ext cx="6348679" cy="530352"/>
          </a:xfrm>
          <a:prstGeom prst="rect">
            <a:avLst/>
          </a:prstGeom>
          <a:noFill/>
          <a:ln/>
        </p:spPr>
        <p:txBody>
          <a:bodyPr wrap="square" lIns="0" tIns="0" rIns="0" bIns="0" rtlCol="0" anchor="ctr"/>
          <a:lstStyle/>
          <a:p>
            <a:pPr indent="0" marL="0">
              <a:lnSpc>
                <a:spcPts val="1800"/>
              </a:lnSpc>
              <a:buNone/>
            </a:pPr>
            <a:r>
              <a:rPr lang="en-US" sz="1350" dirty="0">
                <a:solidFill>
                  <a:srgbClr val="5D6B7A"/>
                </a:solidFill>
                <a:latin typeface="Calibri" pitchFamily="34" charset="0"/>
                <a:ea typeface="Calibri" pitchFamily="34" charset="-122"/>
                <a:cs typeface="Calibri" pitchFamily="34" charset="-120"/>
              </a:rPr>
              <a:t>The two values do not match. The error lists the folders that do exist — compare them letter by letter.</a:t>
            </a:r>
            <a:endParaRPr lang="en-US" sz="1350" dirty="0"/>
          </a:p>
        </p:txBody>
      </p:sp>
      <p:sp>
        <p:nvSpPr>
          <p:cNvPr id="11" name="Shape 9"/>
          <p:cNvSpPr/>
          <p:nvPr/>
        </p:nvSpPr>
        <p:spPr>
          <a:xfrm>
            <a:off x="566928" y="3364992"/>
            <a:ext cx="11057839" cy="731520"/>
          </a:xfrm>
          <a:prstGeom prst="roundRect">
            <a:avLst>
              <a:gd name="adj" fmla="val 11250"/>
            </a:avLst>
          </a:prstGeom>
          <a:solidFill>
            <a:srgbClr val="EDF3F7"/>
          </a:solidFill>
          <a:ln/>
        </p:spPr>
      </p:sp>
      <p:sp>
        <p:nvSpPr>
          <p:cNvPr id="12" name="Text 10"/>
          <p:cNvSpPr/>
          <p:nvPr/>
        </p:nvSpPr>
        <p:spPr>
          <a:xfrm>
            <a:off x="859536" y="3538728"/>
            <a:ext cx="3931920" cy="402336"/>
          </a:xfrm>
          <a:prstGeom prst="rect">
            <a:avLst/>
          </a:prstGeom>
          <a:noFill/>
          <a:ln/>
        </p:spPr>
        <p:txBody>
          <a:bodyPr wrap="square" lIns="0" tIns="0" rIns="0" bIns="0" rtlCol="0" anchor="ctr"/>
          <a:lstStyle/>
          <a:p>
            <a:pPr indent="0" marL="0">
              <a:buNone/>
            </a:pPr>
            <a:r>
              <a:rPr lang="en-US" sz="1450" b="1" dirty="0">
                <a:solidFill>
                  <a:srgbClr val="18222E"/>
                </a:solidFill>
                <a:latin typeface="Calibri" pitchFamily="34" charset="0"/>
                <a:ea typeface="Calibri" pitchFamily="34" charset="-122"/>
                <a:cs typeface="Calibri" pitchFamily="34" charset="-120"/>
              </a:rPr>
              <a:t>Run is green, page is a 404</a:t>
            </a:r>
            <a:endParaRPr lang="en-US" sz="1450" dirty="0"/>
          </a:p>
        </p:txBody>
      </p:sp>
      <p:sp>
        <p:nvSpPr>
          <p:cNvPr id="13" name="Text 11"/>
          <p:cNvSpPr/>
          <p:nvPr/>
        </p:nvSpPr>
        <p:spPr>
          <a:xfrm>
            <a:off x="4956048" y="3474720"/>
            <a:ext cx="6348679" cy="530352"/>
          </a:xfrm>
          <a:prstGeom prst="rect">
            <a:avLst/>
          </a:prstGeom>
          <a:noFill/>
          <a:ln/>
        </p:spPr>
        <p:txBody>
          <a:bodyPr wrap="square" lIns="0" tIns="0" rIns="0" bIns="0" rtlCol="0" anchor="ctr"/>
          <a:lstStyle/>
          <a:p>
            <a:pPr indent="0" marL="0">
              <a:lnSpc>
                <a:spcPts val="1800"/>
              </a:lnSpc>
              <a:buNone/>
            </a:pPr>
            <a:r>
              <a:rPr lang="en-US" sz="1350" dirty="0">
                <a:solidFill>
                  <a:srgbClr val="5D6B7A"/>
                </a:solidFill>
                <a:latin typeface="Calibri" pitchFamily="34" charset="0"/>
                <a:ea typeface="Calibri" pitchFamily="34" charset="-122"/>
                <a:cs typeface="Calibri" pitchFamily="34" charset="-120"/>
              </a:rPr>
              <a:t>Wait ten seconds and hard-reload. Check your URL ends with a slash after your folder name.</a:t>
            </a:r>
            <a:endParaRPr lang="en-US" sz="1350" dirty="0"/>
          </a:p>
        </p:txBody>
      </p:sp>
      <p:sp>
        <p:nvSpPr>
          <p:cNvPr id="14" name="Shape 12"/>
          <p:cNvSpPr/>
          <p:nvPr/>
        </p:nvSpPr>
        <p:spPr>
          <a:xfrm>
            <a:off x="566928" y="4224528"/>
            <a:ext cx="11057839" cy="731520"/>
          </a:xfrm>
          <a:prstGeom prst="roundRect">
            <a:avLst>
              <a:gd name="adj" fmla="val 11250"/>
            </a:avLst>
          </a:prstGeom>
          <a:solidFill>
            <a:srgbClr val="F6F9FB"/>
          </a:solidFill>
          <a:ln/>
        </p:spPr>
      </p:sp>
      <p:sp>
        <p:nvSpPr>
          <p:cNvPr id="15" name="Text 13"/>
          <p:cNvSpPr/>
          <p:nvPr/>
        </p:nvSpPr>
        <p:spPr>
          <a:xfrm>
            <a:off x="859536" y="4398264"/>
            <a:ext cx="3931920" cy="402336"/>
          </a:xfrm>
          <a:prstGeom prst="rect">
            <a:avLst/>
          </a:prstGeom>
          <a:noFill/>
          <a:ln/>
        </p:spPr>
        <p:txBody>
          <a:bodyPr wrap="square" lIns="0" tIns="0" rIns="0" bIns="0" rtlCol="0" anchor="ctr"/>
          <a:lstStyle/>
          <a:p>
            <a:pPr indent="0" marL="0">
              <a:buNone/>
            </a:pPr>
            <a:r>
              <a:rPr lang="en-US" sz="1450" b="1" dirty="0">
                <a:solidFill>
                  <a:srgbClr val="18222E"/>
                </a:solidFill>
                <a:latin typeface="Calibri" pitchFamily="34" charset="0"/>
                <a:ea typeface="Calibri" pitchFamily="34" charset="-122"/>
                <a:cs typeface="Calibri" pitchFamily="34" charset="-120"/>
              </a:rPr>
              <a:t>Page downloads instead of opening</a:t>
            </a:r>
            <a:endParaRPr lang="en-US" sz="1450" dirty="0"/>
          </a:p>
        </p:txBody>
      </p:sp>
      <p:sp>
        <p:nvSpPr>
          <p:cNvPr id="16" name="Text 14"/>
          <p:cNvSpPr/>
          <p:nvPr/>
        </p:nvSpPr>
        <p:spPr>
          <a:xfrm>
            <a:off x="4956048" y="4334256"/>
            <a:ext cx="6348679" cy="530352"/>
          </a:xfrm>
          <a:prstGeom prst="rect">
            <a:avLst/>
          </a:prstGeom>
          <a:noFill/>
          <a:ln/>
        </p:spPr>
        <p:txBody>
          <a:bodyPr wrap="square" lIns="0" tIns="0" rIns="0" bIns="0" rtlCol="0" anchor="ctr"/>
          <a:lstStyle/>
          <a:p>
            <a:pPr indent="0" marL="0">
              <a:lnSpc>
                <a:spcPts val="1800"/>
              </a:lnSpc>
              <a:buNone/>
            </a:pPr>
            <a:r>
              <a:rPr lang="en-US" sz="1350" dirty="0">
                <a:solidFill>
                  <a:srgbClr val="5D6B7A"/>
                </a:solidFill>
                <a:latin typeface="Calibri" pitchFamily="34" charset="0"/>
                <a:ea typeface="Calibri" pitchFamily="34" charset="-122"/>
                <a:cs typeface="Calibri" pitchFamily="34" charset="-120"/>
              </a:rPr>
              <a:t>A file type problem. Rare here, since the workflow sets types explicitly.</a:t>
            </a:r>
            <a:endParaRPr lang="en-US" sz="1350" dirty="0"/>
          </a:p>
        </p:txBody>
      </p:sp>
      <p:sp>
        <p:nvSpPr>
          <p:cNvPr id="17" name="Shape 15"/>
          <p:cNvSpPr/>
          <p:nvPr/>
        </p:nvSpPr>
        <p:spPr>
          <a:xfrm>
            <a:off x="566928" y="5084064"/>
            <a:ext cx="11057839" cy="731520"/>
          </a:xfrm>
          <a:prstGeom prst="roundRect">
            <a:avLst>
              <a:gd name="adj" fmla="val 11250"/>
            </a:avLst>
          </a:prstGeom>
          <a:solidFill>
            <a:srgbClr val="EDF3F7"/>
          </a:solidFill>
          <a:ln/>
        </p:spPr>
      </p:sp>
      <p:sp>
        <p:nvSpPr>
          <p:cNvPr id="18" name="Text 16"/>
          <p:cNvSpPr/>
          <p:nvPr/>
        </p:nvSpPr>
        <p:spPr>
          <a:xfrm>
            <a:off x="859536" y="5257800"/>
            <a:ext cx="3931920" cy="402336"/>
          </a:xfrm>
          <a:prstGeom prst="rect">
            <a:avLst/>
          </a:prstGeom>
          <a:noFill/>
          <a:ln/>
        </p:spPr>
        <p:txBody>
          <a:bodyPr wrap="square" lIns="0" tIns="0" rIns="0" bIns="0" rtlCol="0" anchor="ctr"/>
          <a:lstStyle/>
          <a:p>
            <a:pPr indent="0" marL="0">
              <a:buNone/>
            </a:pPr>
            <a:r>
              <a:rPr lang="en-US" sz="1450" b="1" dirty="0">
                <a:solidFill>
                  <a:srgbClr val="18222E"/>
                </a:solidFill>
                <a:latin typeface="Calibri" pitchFamily="34" charset="0"/>
                <a:ea typeface="Calibri" pitchFamily="34" charset="-122"/>
                <a:cs typeface="Calibri" pitchFamily="34" charset="-120"/>
              </a:rPr>
              <a:t>“Secret … is not set”</a:t>
            </a:r>
            <a:endParaRPr lang="en-US" sz="1450" dirty="0"/>
          </a:p>
        </p:txBody>
      </p:sp>
      <p:sp>
        <p:nvSpPr>
          <p:cNvPr id="19" name="Text 17"/>
          <p:cNvSpPr/>
          <p:nvPr/>
        </p:nvSpPr>
        <p:spPr>
          <a:xfrm>
            <a:off x="4956048" y="5193792"/>
            <a:ext cx="6348679" cy="530352"/>
          </a:xfrm>
          <a:prstGeom prst="rect">
            <a:avLst/>
          </a:prstGeom>
          <a:noFill/>
          <a:ln/>
        </p:spPr>
        <p:txBody>
          <a:bodyPr wrap="square" lIns="0" tIns="0" rIns="0" bIns="0" rtlCol="0" anchor="ctr"/>
          <a:lstStyle/>
          <a:p>
            <a:pPr indent="0" marL="0">
              <a:lnSpc>
                <a:spcPts val="1800"/>
              </a:lnSpc>
              <a:buNone/>
            </a:pPr>
            <a:r>
              <a:rPr lang="en-US" sz="1350" dirty="0">
                <a:solidFill>
                  <a:srgbClr val="5D6B7A"/>
                </a:solidFill>
                <a:latin typeface="Calibri" pitchFamily="34" charset="0"/>
                <a:ea typeface="Calibri" pitchFamily="34" charset="-122"/>
                <a:cs typeface="Calibri" pitchFamily="34" charset="-120"/>
              </a:rPr>
              <a:t>Not your fault. That is repository setup — put your hand up.</a:t>
            </a:r>
            <a:endParaRPr lang="en-US" sz="1350" dirty="0"/>
          </a:p>
        </p:txBody>
      </p:sp>
      <p:sp>
        <p:nvSpPr>
          <p:cNvPr id="20" name="Text 18"/>
          <p:cNvSpPr/>
          <p:nvPr/>
        </p:nvSpPr>
        <p:spPr>
          <a:xfrm>
            <a:off x="566928" y="5961888"/>
            <a:ext cx="11057839" cy="365760"/>
          </a:xfrm>
          <a:prstGeom prst="rect">
            <a:avLst/>
          </a:prstGeom>
          <a:noFill/>
          <a:ln/>
        </p:spPr>
        <p:txBody>
          <a:bodyPr wrap="square" lIns="0" tIns="0" rIns="0" bIns="0" rtlCol="0" anchor="ctr"/>
          <a:lstStyle/>
          <a:p>
            <a:pPr indent="0" marL="0">
              <a:buNone/>
            </a:pPr>
            <a:r>
              <a:rPr lang="en-US" sz="1400" b="1" i="1" dirty="0">
                <a:solidFill>
                  <a:srgbClr val="065A82"/>
                </a:solidFill>
                <a:latin typeface="Calibri" pitchFamily="34" charset="0"/>
                <a:ea typeface="Calibri" pitchFamily="34" charset="-122"/>
                <a:cs typeface="Calibri" pitchFamily="34" charset="-120"/>
              </a:rPr>
              <a:t>The workflow is written to fail loudly and say what is wrong. Read the red step before asking — it is usually the answer.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Four things to take away</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In order of how much they will matter to you later.</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20</a:t>
            </a:r>
            <a:endParaRPr lang="en-US" sz="1000" dirty="0"/>
          </a:p>
        </p:txBody>
      </p:sp>
      <p:sp>
        <p:nvSpPr>
          <p:cNvPr id="5" name="Shape 3"/>
          <p:cNvSpPr/>
          <p:nvPr/>
        </p:nvSpPr>
        <p:spPr>
          <a:xfrm>
            <a:off x="566928" y="1664208"/>
            <a:ext cx="11057839" cy="914400"/>
          </a:xfrm>
          <a:prstGeom prst="roundRect">
            <a:avLst>
              <a:gd name="adj" fmla="val 9000"/>
            </a:avLst>
          </a:prstGeom>
          <a:solidFill>
            <a:srgbClr val="EDF3F7"/>
          </a:solidFill>
          <a:ln/>
        </p:spPr>
      </p:sp>
      <p:sp>
        <p:nvSpPr>
          <p:cNvPr id="6" name="Shape 4"/>
          <p:cNvSpPr/>
          <p:nvPr/>
        </p:nvSpPr>
        <p:spPr>
          <a:xfrm>
            <a:off x="841248" y="1883664"/>
            <a:ext cx="475488" cy="475488"/>
          </a:xfrm>
          <a:prstGeom prst="ellipse">
            <a:avLst/>
          </a:prstGeom>
          <a:solidFill>
            <a:srgbClr val="065A82"/>
          </a:solidFill>
          <a:ln/>
        </p:spPr>
      </p:sp>
      <p:sp>
        <p:nvSpPr>
          <p:cNvPr id="7" name="Text 5"/>
          <p:cNvSpPr/>
          <p:nvPr/>
        </p:nvSpPr>
        <p:spPr>
          <a:xfrm>
            <a:off x="841248" y="188366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81328" y="1810512"/>
            <a:ext cx="9777679" cy="347472"/>
          </a:xfrm>
          <a:prstGeom prst="rect">
            <a:avLst/>
          </a:prstGeom>
          <a:noFill/>
          <a:ln/>
        </p:spPr>
        <p:txBody>
          <a:bodyPr wrap="square" lIns="0" tIns="0" rIns="0" bIns="0" rtlCol="0" anchor="ctr"/>
          <a:lstStyle/>
          <a:p>
            <a:pPr indent="0" marL="0">
              <a:buNone/>
            </a:pPr>
            <a:r>
              <a:rPr lang="en-US" sz="1800" b="1" dirty="0">
                <a:solidFill>
                  <a:srgbClr val="18222E"/>
                </a:solidFill>
                <a:latin typeface="Cambria" pitchFamily="34" charset="0"/>
                <a:ea typeface="Cambria" pitchFamily="34" charset="-122"/>
                <a:cs typeface="Cambria" pitchFamily="34" charset="-120"/>
              </a:rPr>
              <a:t>A pipeline is a trigger plus a checklist</a:t>
            </a:r>
            <a:endParaRPr lang="en-US" sz="1800" dirty="0"/>
          </a:p>
        </p:txBody>
      </p:sp>
      <p:sp>
        <p:nvSpPr>
          <p:cNvPr id="9" name="Text 7"/>
          <p:cNvSpPr/>
          <p:nvPr/>
        </p:nvSpPr>
        <p:spPr>
          <a:xfrm>
            <a:off x="1481328" y="2167128"/>
            <a:ext cx="9777679" cy="329184"/>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Most of the difficulty in real systems is being precise about the trigger, not about the steps.</a:t>
            </a:r>
            <a:endParaRPr lang="en-US" sz="1350" dirty="0"/>
          </a:p>
        </p:txBody>
      </p:sp>
      <p:sp>
        <p:nvSpPr>
          <p:cNvPr id="10" name="Shape 8"/>
          <p:cNvSpPr/>
          <p:nvPr/>
        </p:nvSpPr>
        <p:spPr>
          <a:xfrm>
            <a:off x="566928" y="2724912"/>
            <a:ext cx="11057839" cy="914400"/>
          </a:xfrm>
          <a:prstGeom prst="roundRect">
            <a:avLst>
              <a:gd name="adj" fmla="val 9000"/>
            </a:avLst>
          </a:prstGeom>
          <a:solidFill>
            <a:srgbClr val="F6F9FB"/>
          </a:solidFill>
          <a:ln/>
        </p:spPr>
      </p:sp>
      <p:sp>
        <p:nvSpPr>
          <p:cNvPr id="11" name="Shape 9"/>
          <p:cNvSpPr/>
          <p:nvPr/>
        </p:nvSpPr>
        <p:spPr>
          <a:xfrm>
            <a:off x="841248" y="2944368"/>
            <a:ext cx="475488" cy="475488"/>
          </a:xfrm>
          <a:prstGeom prst="ellipse">
            <a:avLst/>
          </a:prstGeom>
          <a:solidFill>
            <a:srgbClr val="1C7293"/>
          </a:solidFill>
          <a:ln/>
        </p:spPr>
      </p:sp>
      <p:sp>
        <p:nvSpPr>
          <p:cNvPr id="12" name="Text 10"/>
          <p:cNvSpPr/>
          <p:nvPr/>
        </p:nvSpPr>
        <p:spPr>
          <a:xfrm>
            <a:off x="841248" y="29443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481328" y="2871216"/>
            <a:ext cx="9777679" cy="347472"/>
          </a:xfrm>
          <a:prstGeom prst="rect">
            <a:avLst/>
          </a:prstGeom>
          <a:noFill/>
          <a:ln/>
        </p:spPr>
        <p:txBody>
          <a:bodyPr wrap="square" lIns="0" tIns="0" rIns="0" bIns="0" rtlCol="0" anchor="ctr"/>
          <a:lstStyle/>
          <a:p>
            <a:pPr indent="0" marL="0">
              <a:buNone/>
            </a:pPr>
            <a:r>
              <a:rPr lang="en-US" sz="1800" b="1" dirty="0">
                <a:solidFill>
                  <a:srgbClr val="18222E"/>
                </a:solidFill>
                <a:latin typeface="Cambria" pitchFamily="34" charset="0"/>
                <a:ea typeface="Cambria" pitchFamily="34" charset="-122"/>
                <a:cs typeface="Cambria" pitchFamily="34" charset="-120"/>
              </a:rPr>
              <a:t>Scope your automation</a:t>
            </a:r>
            <a:endParaRPr lang="en-US" sz="1800" dirty="0"/>
          </a:p>
        </p:txBody>
      </p:sp>
      <p:sp>
        <p:nvSpPr>
          <p:cNvPr id="14" name="Text 12"/>
          <p:cNvSpPr/>
          <p:nvPr/>
        </p:nvSpPr>
        <p:spPr>
          <a:xfrm>
            <a:off x="1481328" y="3227832"/>
            <a:ext cx="9777679" cy="329184"/>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Something that fires on everything is usually worse than something that fires on the right things.</a:t>
            </a:r>
            <a:endParaRPr lang="en-US" sz="1350" dirty="0"/>
          </a:p>
        </p:txBody>
      </p:sp>
      <p:sp>
        <p:nvSpPr>
          <p:cNvPr id="15" name="Shape 13"/>
          <p:cNvSpPr/>
          <p:nvPr/>
        </p:nvSpPr>
        <p:spPr>
          <a:xfrm>
            <a:off x="566928" y="3785616"/>
            <a:ext cx="11057839" cy="914400"/>
          </a:xfrm>
          <a:prstGeom prst="roundRect">
            <a:avLst>
              <a:gd name="adj" fmla="val 9000"/>
            </a:avLst>
          </a:prstGeom>
          <a:solidFill>
            <a:srgbClr val="EDF3F7"/>
          </a:solidFill>
          <a:ln/>
        </p:spPr>
      </p:sp>
      <p:sp>
        <p:nvSpPr>
          <p:cNvPr id="16" name="Shape 14"/>
          <p:cNvSpPr/>
          <p:nvPr/>
        </p:nvSpPr>
        <p:spPr>
          <a:xfrm>
            <a:off x="841248" y="4005072"/>
            <a:ext cx="475488" cy="475488"/>
          </a:xfrm>
          <a:prstGeom prst="ellipse">
            <a:avLst/>
          </a:prstGeom>
          <a:solidFill>
            <a:srgbClr val="1C7293"/>
          </a:solidFill>
          <a:ln/>
        </p:spPr>
      </p:sp>
      <p:sp>
        <p:nvSpPr>
          <p:cNvPr id="17" name="Text 15"/>
          <p:cNvSpPr/>
          <p:nvPr/>
        </p:nvSpPr>
        <p:spPr>
          <a:xfrm>
            <a:off x="841248" y="40050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81328" y="3931920"/>
            <a:ext cx="9777679" cy="347472"/>
          </a:xfrm>
          <a:prstGeom prst="rect">
            <a:avLst/>
          </a:prstGeom>
          <a:noFill/>
          <a:ln/>
        </p:spPr>
        <p:txBody>
          <a:bodyPr wrap="square" lIns="0" tIns="0" rIns="0" bIns="0" rtlCol="0" anchor="ctr"/>
          <a:lstStyle/>
          <a:p>
            <a:pPr indent="0" marL="0">
              <a:buNone/>
            </a:pPr>
            <a:r>
              <a:rPr lang="en-US" sz="1800" b="1" dirty="0">
                <a:solidFill>
                  <a:srgbClr val="18222E"/>
                </a:solidFill>
                <a:latin typeface="Cambria" pitchFamily="34" charset="0"/>
                <a:ea typeface="Cambria" pitchFamily="34" charset="-122"/>
                <a:cs typeface="Cambria" pitchFamily="34" charset="-120"/>
              </a:rPr>
              <a:t>Keep passwords out of the file</a:t>
            </a:r>
            <a:endParaRPr lang="en-US" sz="1800" dirty="0"/>
          </a:p>
        </p:txBody>
      </p:sp>
      <p:sp>
        <p:nvSpPr>
          <p:cNvPr id="19" name="Text 17"/>
          <p:cNvSpPr/>
          <p:nvPr/>
        </p:nvSpPr>
        <p:spPr>
          <a:xfrm>
            <a:off x="1481328" y="4288536"/>
            <a:ext cx="9777679" cy="329184"/>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Reference them by name. Rotating a credential should touch one setting, not your code.</a:t>
            </a:r>
            <a:endParaRPr lang="en-US" sz="1350" dirty="0"/>
          </a:p>
        </p:txBody>
      </p:sp>
      <p:sp>
        <p:nvSpPr>
          <p:cNvPr id="20" name="Shape 18"/>
          <p:cNvSpPr/>
          <p:nvPr/>
        </p:nvSpPr>
        <p:spPr>
          <a:xfrm>
            <a:off x="566928" y="4846320"/>
            <a:ext cx="11057839" cy="914400"/>
          </a:xfrm>
          <a:prstGeom prst="roundRect">
            <a:avLst>
              <a:gd name="adj" fmla="val 9000"/>
            </a:avLst>
          </a:prstGeom>
          <a:solidFill>
            <a:srgbClr val="F6F9FB"/>
          </a:solidFill>
          <a:ln/>
        </p:spPr>
      </p:sp>
      <p:sp>
        <p:nvSpPr>
          <p:cNvPr id="21" name="Shape 19"/>
          <p:cNvSpPr/>
          <p:nvPr/>
        </p:nvSpPr>
        <p:spPr>
          <a:xfrm>
            <a:off x="841248" y="5065776"/>
            <a:ext cx="475488" cy="475488"/>
          </a:xfrm>
          <a:prstGeom prst="ellipse">
            <a:avLst/>
          </a:prstGeom>
          <a:solidFill>
            <a:srgbClr val="1C7293"/>
          </a:solidFill>
          <a:ln/>
        </p:spPr>
      </p:sp>
      <p:sp>
        <p:nvSpPr>
          <p:cNvPr id="22" name="Text 20"/>
          <p:cNvSpPr/>
          <p:nvPr/>
        </p:nvSpPr>
        <p:spPr>
          <a:xfrm>
            <a:off x="841248" y="506577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481328" y="4992624"/>
            <a:ext cx="9777679" cy="347472"/>
          </a:xfrm>
          <a:prstGeom prst="rect">
            <a:avLst/>
          </a:prstGeom>
          <a:noFill/>
          <a:ln/>
        </p:spPr>
        <p:txBody>
          <a:bodyPr wrap="square" lIns="0" tIns="0" rIns="0" bIns="0" rtlCol="0" anchor="ctr"/>
          <a:lstStyle/>
          <a:p>
            <a:pPr indent="0" marL="0">
              <a:buNone/>
            </a:pPr>
            <a:r>
              <a:rPr lang="en-US" sz="1800" b="1" dirty="0">
                <a:solidFill>
                  <a:srgbClr val="18222E"/>
                </a:solidFill>
                <a:latin typeface="Cambria" pitchFamily="34" charset="0"/>
                <a:ea typeface="Cambria" pitchFamily="34" charset="-122"/>
                <a:cs typeface="Cambria" pitchFamily="34" charset="-120"/>
              </a:rPr>
              <a:t>Always give yourself a manual button</a:t>
            </a:r>
            <a:endParaRPr lang="en-US" sz="1800" dirty="0"/>
          </a:p>
        </p:txBody>
      </p:sp>
      <p:sp>
        <p:nvSpPr>
          <p:cNvPr id="24" name="Text 22"/>
          <p:cNvSpPr/>
          <p:nvPr/>
        </p:nvSpPr>
        <p:spPr>
          <a:xfrm>
            <a:off x="1481328" y="5349240"/>
            <a:ext cx="9777679" cy="329184"/>
          </a:xfrm>
          <a:prstGeom prst="rect">
            <a:avLst/>
          </a:prstGeom>
          <a:noFill/>
          <a:ln/>
        </p:spPr>
        <p:txBody>
          <a:bodyPr wrap="square" lIns="0" tIns="0" rIns="0" bIns="0" rtlCol="0" anchor="ctr"/>
          <a:lstStyle/>
          <a:p>
            <a:pPr indent="0" marL="0">
              <a:buNone/>
            </a:pPr>
            <a:r>
              <a:rPr lang="en-US" sz="1350" dirty="0">
                <a:solidFill>
                  <a:srgbClr val="5D6B7A"/>
                </a:solidFill>
                <a:latin typeface="Calibri" pitchFamily="34" charset="0"/>
                <a:ea typeface="Calibri" pitchFamily="34" charset="-122"/>
                <a:cs typeface="Calibri" pitchFamily="34" charset="-120"/>
              </a:rPr>
              <a:t>Two lines of setup that will save you on the day something is on fire.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1057839" cy="658368"/>
          </a:xfrm>
          <a:prstGeom prst="rect">
            <a:avLst/>
          </a:prstGeom>
          <a:noFill/>
          <a:ln/>
        </p:spPr>
        <p:txBody>
          <a:bodyPr wrap="square" lIns="0" tIns="0" rIns="0" bIns="0" rtlCol="0" anchor="ctr"/>
          <a:lstStyle/>
          <a:p>
            <a:pPr indent="0" marL="0">
              <a:buNone/>
            </a:pPr>
            <a:r>
              <a:rPr lang="en-US" sz="3400" b="1" dirty="0">
                <a:solidFill>
                  <a:srgbClr val="18222E"/>
                </a:solidFill>
                <a:latin typeface="Cambria" pitchFamily="34" charset="0"/>
                <a:ea typeface="Cambria" pitchFamily="34" charset="-122"/>
                <a:cs typeface="Cambria" pitchFamily="34" charset="-120"/>
              </a:rPr>
              <a:t>What is different in a real system</a:t>
            </a:r>
            <a:endParaRPr lang="en-US" sz="3400" dirty="0"/>
          </a:p>
        </p:txBody>
      </p:sp>
      <p:sp>
        <p:nvSpPr>
          <p:cNvPr id="3" name="Text 1"/>
          <p:cNvSpPr/>
          <p:nvPr/>
        </p:nvSpPr>
        <p:spPr>
          <a:xfrm>
            <a:off x="566928" y="1078992"/>
            <a:ext cx="9067428" cy="384048"/>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Today's setup is honest training wheels. Here is what changes.</a:t>
            </a:r>
            <a:endParaRPr lang="en-US" sz="1500" dirty="0"/>
          </a:p>
        </p:txBody>
      </p:sp>
      <p:sp>
        <p:nvSpPr>
          <p:cNvPr id="4" name="Text 2"/>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5D6B7A"/>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065A82"/>
                </a:solidFill>
                <a:latin typeface="Calibri" pitchFamily="34" charset="0"/>
                <a:ea typeface="Calibri" pitchFamily="34" charset="-122"/>
                <a:cs typeface="Calibri" pitchFamily="34" charset="-120"/>
              </a:rPr>
              <a:t>     21</a:t>
            </a:r>
            <a:endParaRPr lang="en-US" sz="1000" dirty="0"/>
          </a:p>
        </p:txBody>
      </p:sp>
      <p:sp>
        <p:nvSpPr>
          <p:cNvPr id="5" name="Shape 3"/>
          <p:cNvSpPr/>
          <p:nvPr/>
        </p:nvSpPr>
        <p:spPr>
          <a:xfrm>
            <a:off x="566928" y="1645920"/>
            <a:ext cx="5394960" cy="3291840"/>
          </a:xfrm>
          <a:prstGeom prst="roundRect">
            <a:avLst>
              <a:gd name="adj" fmla="val 2500"/>
            </a:avLst>
          </a:prstGeom>
          <a:solidFill>
            <a:srgbClr val="EDF3F7"/>
          </a:solidFill>
          <a:ln/>
        </p:spPr>
      </p:sp>
      <p:sp>
        <p:nvSpPr>
          <p:cNvPr id="6" name="Text 4"/>
          <p:cNvSpPr/>
          <p:nvPr/>
        </p:nvSpPr>
        <p:spPr>
          <a:xfrm>
            <a:off x="896112" y="1865376"/>
            <a:ext cx="4736592" cy="292608"/>
          </a:xfrm>
          <a:prstGeom prst="rect">
            <a:avLst/>
          </a:prstGeom>
          <a:noFill/>
          <a:ln/>
        </p:spPr>
        <p:txBody>
          <a:bodyPr wrap="square" lIns="0" tIns="0" rIns="0" bIns="0" rtlCol="0" anchor="ctr"/>
          <a:lstStyle/>
          <a:p>
            <a:pPr indent="0" marL="0">
              <a:buNone/>
            </a:pPr>
            <a:r>
              <a:rPr lang="en-US" sz="1150" b="1" spc="200" kern="0" dirty="0">
                <a:solidFill>
                  <a:srgbClr val="5D6B7A"/>
                </a:solidFill>
                <a:latin typeface="Calibri" pitchFamily="34" charset="0"/>
                <a:ea typeface="Calibri" pitchFamily="34" charset="-122"/>
                <a:cs typeface="Calibri" pitchFamily="34" charset="-120"/>
              </a:rPr>
              <a:t>TODAY</a:t>
            </a:r>
            <a:endParaRPr lang="en-US" sz="1150" dirty="0"/>
          </a:p>
        </p:txBody>
      </p:sp>
      <p:sp>
        <p:nvSpPr>
          <p:cNvPr id="7" name="Text 5"/>
          <p:cNvSpPr/>
          <p:nvPr/>
        </p:nvSpPr>
        <p:spPr>
          <a:xfrm>
            <a:off x="896112" y="2194560"/>
            <a:ext cx="4736592" cy="411480"/>
          </a:xfrm>
          <a:prstGeom prst="rect">
            <a:avLst/>
          </a:prstGeom>
          <a:noFill/>
          <a:ln/>
        </p:spPr>
        <p:txBody>
          <a:bodyPr wrap="square" lIns="0" tIns="0" rIns="0" bIns="0" rtlCol="0" anchor="ctr"/>
          <a:lstStyle/>
          <a:p>
            <a:pPr indent="0" marL="0">
              <a:buNone/>
            </a:pPr>
            <a:r>
              <a:rPr lang="en-US" sz="2100" b="1" dirty="0">
                <a:solidFill>
                  <a:srgbClr val="18222E"/>
                </a:solidFill>
                <a:latin typeface="Cambria" pitchFamily="34" charset="0"/>
                <a:ea typeface="Cambria" pitchFamily="34" charset="-122"/>
                <a:cs typeface="Cambria" pitchFamily="34" charset="-120"/>
              </a:rPr>
              <a:t>A stored password</a:t>
            </a:r>
            <a:endParaRPr lang="en-US" sz="2100" dirty="0"/>
          </a:p>
        </p:txBody>
      </p:sp>
      <p:sp>
        <p:nvSpPr>
          <p:cNvPr id="8" name="Text 6"/>
          <p:cNvSpPr/>
          <p:nvPr/>
        </p:nvSpPr>
        <p:spPr>
          <a:xfrm>
            <a:off x="896112" y="2743200"/>
            <a:ext cx="4736592" cy="201168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5D6B7A"/>
                </a:solidFill>
                <a:latin typeface="Calibri" pitchFamily="34" charset="0"/>
                <a:ea typeface="Calibri" pitchFamily="34" charset="-122"/>
                <a:cs typeface="Calibri" pitchFamily="34" charset="-120"/>
              </a:rPr>
              <a:t>One connection string, saved as a secret</a:t>
            </a:r>
            <a:endParaRPr lang="en-US" sz="1400" dirty="0"/>
          </a:p>
          <a:p>
            <a:pPr marL="342900" indent="-342900">
              <a:spcAft>
                <a:spcPts val="900"/>
              </a:spcAft>
              <a:buSzPct val="100000"/>
              <a:buChar char="•"/>
            </a:pPr>
            <a:r>
              <a:rPr lang="en-US" sz="1400" dirty="0">
                <a:solidFill>
                  <a:srgbClr val="5D6B7A"/>
                </a:solidFill>
                <a:latin typeface="Calibri" pitchFamily="34" charset="0"/>
                <a:ea typeface="Calibri" pitchFamily="34" charset="-122"/>
                <a:cs typeface="Calibri" pitchFamily="34" charset="-120"/>
              </a:rPr>
              <a:t>Works everywhere, easy to explain</a:t>
            </a:r>
            <a:endParaRPr lang="en-US" sz="1400" dirty="0"/>
          </a:p>
          <a:p>
            <a:pPr marL="342900" indent="-342900">
              <a:spcAft>
                <a:spcPts val="900"/>
              </a:spcAft>
              <a:buSzPct val="100000"/>
              <a:buChar char="•"/>
            </a:pPr>
            <a:r>
              <a:rPr lang="en-US" sz="1400" dirty="0">
                <a:solidFill>
                  <a:srgbClr val="5D6B7A"/>
                </a:solidFill>
                <a:latin typeface="Calibri" pitchFamily="34" charset="0"/>
                <a:ea typeface="Calibri" pitchFamily="34" charset="-122"/>
                <a:cs typeface="Calibri" pitchFamily="34" charset="-120"/>
              </a:rPr>
              <a:t>Grants full access to the whole account</a:t>
            </a:r>
            <a:endParaRPr lang="en-US" sz="1400" dirty="0"/>
          </a:p>
          <a:p>
            <a:pPr marL="342900" indent="-342900">
              <a:spcAft>
                <a:spcPts val="900"/>
              </a:spcAft>
              <a:buSzPct val="100000"/>
              <a:buChar char="•"/>
            </a:pPr>
            <a:r>
              <a:rPr lang="en-US" sz="1400" dirty="0">
                <a:solidFill>
                  <a:srgbClr val="5D6B7A"/>
                </a:solidFill>
                <a:latin typeface="Calibri" pitchFamily="34" charset="0"/>
                <a:ea typeface="Calibri" pitchFamily="34" charset="-122"/>
                <a:cs typeface="Calibri" pitchFamily="34" charset="-120"/>
              </a:rPr>
              <a:t>Has to be rotated by hand</a:t>
            </a:r>
            <a:endParaRPr lang="en-US" sz="1400" dirty="0"/>
          </a:p>
        </p:txBody>
      </p:sp>
      <p:sp>
        <p:nvSpPr>
          <p:cNvPr id="9" name="Shape 7"/>
          <p:cNvSpPr/>
          <p:nvPr/>
        </p:nvSpPr>
        <p:spPr>
          <a:xfrm>
            <a:off x="6263640" y="1645920"/>
            <a:ext cx="5394960" cy="3291840"/>
          </a:xfrm>
          <a:prstGeom prst="roundRect">
            <a:avLst>
              <a:gd name="adj" fmla="val 2500"/>
            </a:avLst>
          </a:prstGeom>
          <a:solidFill>
            <a:srgbClr val="1B2547"/>
          </a:solidFill>
          <a:ln/>
        </p:spPr>
      </p:sp>
      <p:sp>
        <p:nvSpPr>
          <p:cNvPr id="10" name="Text 8"/>
          <p:cNvSpPr/>
          <p:nvPr/>
        </p:nvSpPr>
        <p:spPr>
          <a:xfrm>
            <a:off x="6592824" y="1865376"/>
            <a:ext cx="4736592" cy="292608"/>
          </a:xfrm>
          <a:prstGeom prst="rect">
            <a:avLst/>
          </a:prstGeom>
          <a:noFill/>
          <a:ln/>
        </p:spPr>
        <p:txBody>
          <a:bodyPr wrap="square" lIns="0" tIns="0" rIns="0" bIns="0" rtlCol="0" anchor="ctr"/>
          <a:lstStyle/>
          <a:p>
            <a:pPr indent="0" marL="0">
              <a:buNone/>
            </a:pPr>
            <a:r>
              <a:rPr lang="en-US" sz="1150" b="1" spc="200" kern="0" dirty="0">
                <a:solidFill>
                  <a:srgbClr val="FFB627"/>
                </a:solidFill>
                <a:latin typeface="Calibri" pitchFamily="34" charset="0"/>
                <a:ea typeface="Calibri" pitchFamily="34" charset="-122"/>
                <a:cs typeface="Calibri" pitchFamily="34" charset="-120"/>
              </a:rPr>
              <a:t>IN PRODUCTION</a:t>
            </a:r>
            <a:endParaRPr lang="en-US" sz="1150" dirty="0"/>
          </a:p>
        </p:txBody>
      </p:sp>
      <p:sp>
        <p:nvSpPr>
          <p:cNvPr id="11" name="Text 9"/>
          <p:cNvSpPr/>
          <p:nvPr/>
        </p:nvSpPr>
        <p:spPr>
          <a:xfrm>
            <a:off x="6592824" y="2194560"/>
            <a:ext cx="4736592"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 stored password at all</a:t>
            </a:r>
            <a:endParaRPr lang="en-US" sz="2100" dirty="0"/>
          </a:p>
        </p:txBody>
      </p:sp>
      <p:sp>
        <p:nvSpPr>
          <p:cNvPr id="12" name="Text 10"/>
          <p:cNvSpPr/>
          <p:nvPr/>
        </p:nvSpPr>
        <p:spPr>
          <a:xfrm>
            <a:off x="6592824" y="2743200"/>
            <a:ext cx="4736592" cy="201168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BFD4E8"/>
                </a:solidFill>
                <a:latin typeface="Calibri" pitchFamily="34" charset="0"/>
                <a:ea typeface="Calibri" pitchFamily="34" charset="-122"/>
                <a:cs typeface="Calibri" pitchFamily="34" charset="-120"/>
              </a:rPr>
              <a:t>GitHub proves who it is to Azure directly</a:t>
            </a:r>
            <a:endParaRPr lang="en-US" sz="1400" dirty="0"/>
          </a:p>
          <a:p>
            <a:pPr marL="342900" indent="-342900">
              <a:spcAft>
                <a:spcPts val="900"/>
              </a:spcAft>
              <a:buSzPct val="100000"/>
              <a:buChar char="•"/>
            </a:pPr>
            <a:r>
              <a:rPr lang="en-US" sz="1400" dirty="0">
                <a:solidFill>
                  <a:srgbClr val="BFD4E8"/>
                </a:solidFill>
                <a:latin typeface="Calibri" pitchFamily="34" charset="0"/>
                <a:ea typeface="Calibri" pitchFamily="34" charset="-122"/>
                <a:cs typeface="Calibri" pitchFamily="34" charset="-120"/>
              </a:rPr>
              <a:t>Nothing secret is ever stored anywhere</a:t>
            </a:r>
            <a:endParaRPr lang="en-US" sz="1400" dirty="0"/>
          </a:p>
          <a:p>
            <a:pPr marL="342900" indent="-342900">
              <a:spcAft>
                <a:spcPts val="900"/>
              </a:spcAft>
              <a:buSzPct val="100000"/>
              <a:buChar char="•"/>
            </a:pPr>
            <a:r>
              <a:rPr lang="en-US" sz="1400" dirty="0">
                <a:solidFill>
                  <a:srgbClr val="BFD4E8"/>
                </a:solidFill>
                <a:latin typeface="Calibri" pitchFamily="34" charset="0"/>
                <a:ea typeface="Calibri" pitchFamily="34" charset="-122"/>
                <a:cs typeface="Calibri" pitchFamily="34" charset="-120"/>
              </a:rPr>
              <a:t>Permissions scoped to one container</a:t>
            </a:r>
            <a:endParaRPr lang="en-US" sz="1400" dirty="0"/>
          </a:p>
          <a:p>
            <a:pPr marL="342900" indent="-342900">
              <a:spcAft>
                <a:spcPts val="900"/>
              </a:spcAft>
              <a:buSzPct val="100000"/>
              <a:buChar char="•"/>
            </a:pPr>
            <a:r>
              <a:rPr lang="en-US" sz="1400" dirty="0">
                <a:solidFill>
                  <a:srgbClr val="BFD4E8"/>
                </a:solidFill>
                <a:latin typeface="Calibri" pitchFamily="34" charset="0"/>
                <a:ea typeface="Calibri" pitchFamily="34" charset="-122"/>
                <a:cs typeface="Calibri" pitchFamily="34" charset="-120"/>
              </a:rPr>
              <a:t>Nothing to rotate, nothing to leak</a:t>
            </a:r>
            <a:endParaRPr lang="en-US" sz="1400" dirty="0"/>
          </a:p>
        </p:txBody>
      </p:sp>
      <p:sp>
        <p:nvSpPr>
          <p:cNvPr id="13" name="Text 11"/>
          <p:cNvSpPr/>
          <p:nvPr/>
        </p:nvSpPr>
        <p:spPr>
          <a:xfrm>
            <a:off x="566928" y="5138928"/>
            <a:ext cx="11057839" cy="365760"/>
          </a:xfrm>
          <a:prstGeom prst="rect">
            <a:avLst/>
          </a:prstGeom>
          <a:noFill/>
          <a:ln/>
        </p:spPr>
        <p:txBody>
          <a:bodyPr wrap="square" lIns="0" tIns="0" rIns="0" bIns="0" rtlCol="0" anchor="ctr"/>
          <a:lstStyle/>
          <a:p>
            <a:pPr indent="0" marL="0">
              <a:buNone/>
            </a:pPr>
            <a:r>
              <a:rPr lang="en-US" sz="1400" i="1" dirty="0">
                <a:solidFill>
                  <a:srgbClr val="065A82"/>
                </a:solidFill>
                <a:latin typeface="Calibri" pitchFamily="34" charset="0"/>
                <a:ea typeface="Calibri" pitchFamily="34" charset="-122"/>
                <a:cs typeface="Calibri" pitchFamily="34" charset="-120"/>
              </a:rPr>
              <a:t>Same workflow file. Only the authentication step changes.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547"/>
        </a:solidFill>
      </p:bgPr>
    </p:bg>
    <p:spTree>
      <p:nvGrpSpPr>
        <p:cNvPr id="1" name=""/>
        <p:cNvGrpSpPr/>
        <p:nvPr/>
      </p:nvGrpSpPr>
      <p:grpSpPr>
        <a:xfrm>
          <a:off x="0" y="0"/>
          <a:ext cx="0" cy="0"/>
          <a:chOff x="0" y="0"/>
          <a:chExt cx="0" cy="0"/>
        </a:xfrm>
      </p:grpSpPr>
      <p:sp>
        <p:nvSpPr>
          <p:cNvPr id="2" name="Text 0"/>
          <p:cNvSpPr/>
          <p:nvPr/>
        </p:nvSpPr>
        <p:spPr>
          <a:xfrm>
            <a:off x="566928" y="1417320"/>
            <a:ext cx="11057839" cy="320040"/>
          </a:xfrm>
          <a:prstGeom prst="rect">
            <a:avLst/>
          </a:prstGeom>
          <a:noFill/>
          <a:ln/>
        </p:spPr>
        <p:txBody>
          <a:bodyPr wrap="square" lIns="0" tIns="0" rIns="0" bIns="0" rtlCol="0" anchor="ctr"/>
          <a:lstStyle/>
          <a:p>
            <a:pPr indent="0" marL="0">
              <a:buNone/>
            </a:pPr>
            <a:r>
              <a:rPr lang="en-US" sz="1300" b="1" spc="250" kern="0" dirty="0">
                <a:solidFill>
                  <a:srgbClr val="FFB627"/>
                </a:solidFill>
                <a:latin typeface="Calibri" pitchFamily="34" charset="0"/>
                <a:ea typeface="Calibri" pitchFamily="34" charset="-122"/>
                <a:cs typeface="Calibri" pitchFamily="34" charset="-120"/>
              </a:rPr>
              <a:t>YOU BUILT A DEPLOYMENT PIPELINE</a:t>
            </a:r>
            <a:endParaRPr lang="en-US" sz="1300" dirty="0"/>
          </a:p>
        </p:txBody>
      </p:sp>
      <p:sp>
        <p:nvSpPr>
          <p:cNvPr id="3" name="Text 1"/>
          <p:cNvSpPr/>
          <p:nvPr/>
        </p:nvSpPr>
        <p:spPr>
          <a:xfrm>
            <a:off x="566928" y="1828800"/>
            <a:ext cx="685586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That is the whole trick</a:t>
            </a:r>
            <a:endParaRPr lang="en-US" sz="4400" dirty="0"/>
          </a:p>
        </p:txBody>
      </p:sp>
      <p:sp>
        <p:nvSpPr>
          <p:cNvPr id="4" name="Text 2"/>
          <p:cNvSpPr/>
          <p:nvPr/>
        </p:nvSpPr>
        <p:spPr>
          <a:xfrm>
            <a:off x="566928" y="2834640"/>
            <a:ext cx="5528920" cy="1188720"/>
          </a:xfrm>
          <a:prstGeom prst="rect">
            <a:avLst/>
          </a:prstGeom>
          <a:noFill/>
          <a:ln/>
        </p:spPr>
        <p:txBody>
          <a:bodyPr wrap="square" lIns="0" tIns="0" rIns="0" bIns="0" rtlCol="0" anchor="ctr"/>
          <a:lstStyle/>
          <a:p>
            <a:pPr indent="0" marL="0">
              <a:lnSpc>
                <a:spcPts val="2600"/>
              </a:lnSpc>
              <a:buNone/>
            </a:pPr>
            <a:r>
              <a:rPr lang="en-US" sz="1700" dirty="0">
                <a:solidFill>
                  <a:srgbClr val="C3D0E4"/>
                </a:solidFill>
                <a:latin typeface="Calibri" pitchFamily="34" charset="0"/>
                <a:ea typeface="Calibri" pitchFamily="34" charset="-122"/>
                <a:cs typeface="Calibri" pitchFamily="34" charset="-120"/>
              </a:rPr>
              <a:t>Everything more sophisticated than what you did today is a variation on it: a trigger, a checklist, and a credential kept somewhere sensible.</a:t>
            </a:r>
            <a:endParaRPr lang="en-US" sz="1700" dirty="0"/>
          </a:p>
        </p:txBody>
      </p:sp>
      <p:sp>
        <p:nvSpPr>
          <p:cNvPr id="5" name="Text 3"/>
          <p:cNvSpPr/>
          <p:nvPr/>
        </p:nvSpPr>
        <p:spPr>
          <a:xfrm>
            <a:off x="6766560" y="1783080"/>
            <a:ext cx="4858207" cy="292608"/>
          </a:xfrm>
          <a:prstGeom prst="rect">
            <a:avLst/>
          </a:prstGeom>
          <a:noFill/>
          <a:ln/>
        </p:spPr>
        <p:txBody>
          <a:bodyPr wrap="square" lIns="0" tIns="0" rIns="0" bIns="0" rtlCol="0" anchor="ctr"/>
          <a:lstStyle/>
          <a:p>
            <a:pPr indent="0" marL="0">
              <a:buNone/>
            </a:pPr>
            <a:r>
              <a:rPr lang="en-US" sz="1150" b="1" spc="200" kern="0" dirty="0">
                <a:solidFill>
                  <a:srgbClr val="FFB627"/>
                </a:solidFill>
                <a:latin typeface="Calibri" pitchFamily="34" charset="0"/>
                <a:ea typeface="Calibri" pitchFamily="34" charset="-122"/>
                <a:cs typeface="Calibri" pitchFamily="34" charset="-120"/>
              </a:rPr>
              <a:t>TAKE IT FURTHER</a:t>
            </a:r>
            <a:endParaRPr lang="en-US" sz="1150" dirty="0"/>
          </a:p>
        </p:txBody>
      </p:sp>
      <p:sp>
        <p:nvSpPr>
          <p:cNvPr id="6" name="Shape 4"/>
          <p:cNvSpPr/>
          <p:nvPr/>
        </p:nvSpPr>
        <p:spPr>
          <a:xfrm>
            <a:off x="6766560" y="2295144"/>
            <a:ext cx="137160" cy="137160"/>
          </a:xfrm>
          <a:prstGeom prst="ellipse">
            <a:avLst/>
          </a:prstGeom>
          <a:solidFill>
            <a:srgbClr val="1C7293"/>
          </a:solidFill>
          <a:ln/>
        </p:spPr>
      </p:sp>
      <p:sp>
        <p:nvSpPr>
          <p:cNvPr id="7" name="Text 5"/>
          <p:cNvSpPr/>
          <p:nvPr/>
        </p:nvSpPr>
        <p:spPr>
          <a:xfrm>
            <a:off x="7077456" y="2212848"/>
            <a:ext cx="4547311" cy="658368"/>
          </a:xfrm>
          <a:prstGeom prst="rect">
            <a:avLst/>
          </a:prstGeom>
          <a:noFill/>
          <a:ln/>
        </p:spPr>
        <p:txBody>
          <a:bodyPr wrap="square" lIns="0" tIns="0" rIns="0" bIns="0" rtlCol="0" anchor="t"/>
          <a:lstStyle/>
          <a:p>
            <a:pPr indent="0" marL="0">
              <a:lnSpc>
                <a:spcPts val="1900"/>
              </a:lnSpc>
              <a:buNone/>
            </a:pPr>
            <a:r>
              <a:rPr lang="en-US" sz="1350" dirty="0">
                <a:solidFill>
                  <a:srgbClr val="C3D0E4"/>
                </a:solidFill>
                <a:latin typeface="Calibri" pitchFamily="34" charset="0"/>
                <a:ea typeface="Calibri" pitchFamily="34" charset="-122"/>
                <a:cs typeface="Calibri" pitchFamily="34" charset="-120"/>
              </a:rPr>
              <a:t>Add a branch that deploys to a preview folder, so only main publishes for real</a:t>
            </a:r>
            <a:endParaRPr lang="en-US" sz="1350" dirty="0"/>
          </a:p>
        </p:txBody>
      </p:sp>
      <p:sp>
        <p:nvSpPr>
          <p:cNvPr id="8" name="Shape 6"/>
          <p:cNvSpPr/>
          <p:nvPr/>
        </p:nvSpPr>
        <p:spPr>
          <a:xfrm>
            <a:off x="6766560" y="3044952"/>
            <a:ext cx="137160" cy="137160"/>
          </a:xfrm>
          <a:prstGeom prst="ellipse">
            <a:avLst/>
          </a:prstGeom>
          <a:solidFill>
            <a:srgbClr val="1C7293"/>
          </a:solidFill>
          <a:ln/>
        </p:spPr>
      </p:sp>
      <p:sp>
        <p:nvSpPr>
          <p:cNvPr id="9" name="Text 7"/>
          <p:cNvSpPr/>
          <p:nvPr/>
        </p:nvSpPr>
        <p:spPr>
          <a:xfrm>
            <a:off x="7077456" y="2962656"/>
            <a:ext cx="4547311" cy="658368"/>
          </a:xfrm>
          <a:prstGeom prst="rect">
            <a:avLst/>
          </a:prstGeom>
          <a:noFill/>
          <a:ln/>
        </p:spPr>
        <p:txBody>
          <a:bodyPr wrap="square" lIns="0" tIns="0" rIns="0" bIns="0" rtlCol="0" anchor="t"/>
          <a:lstStyle/>
          <a:p>
            <a:pPr indent="0" marL="0">
              <a:lnSpc>
                <a:spcPts val="1900"/>
              </a:lnSpc>
              <a:buNone/>
            </a:pPr>
            <a:r>
              <a:rPr lang="en-US" sz="1350" dirty="0">
                <a:solidFill>
                  <a:srgbClr val="C3D0E4"/>
                </a:solidFill>
                <a:latin typeface="Calibri" pitchFamily="34" charset="0"/>
                <a:ea typeface="Calibri" pitchFamily="34" charset="-122"/>
                <a:cs typeface="Calibri" pitchFamily="34" charset="-120"/>
              </a:rPr>
              <a:t>Swap the stored password for a no-secret handshake (OIDC)</a:t>
            </a:r>
            <a:endParaRPr lang="en-US" sz="1350" dirty="0"/>
          </a:p>
        </p:txBody>
      </p:sp>
      <p:sp>
        <p:nvSpPr>
          <p:cNvPr id="10" name="Shape 8"/>
          <p:cNvSpPr/>
          <p:nvPr/>
        </p:nvSpPr>
        <p:spPr>
          <a:xfrm>
            <a:off x="6766560" y="3794760"/>
            <a:ext cx="137160" cy="137160"/>
          </a:xfrm>
          <a:prstGeom prst="ellipse">
            <a:avLst/>
          </a:prstGeom>
          <a:solidFill>
            <a:srgbClr val="1C7293"/>
          </a:solidFill>
          <a:ln/>
        </p:spPr>
      </p:sp>
      <p:sp>
        <p:nvSpPr>
          <p:cNvPr id="11" name="Text 9"/>
          <p:cNvSpPr/>
          <p:nvPr/>
        </p:nvSpPr>
        <p:spPr>
          <a:xfrm>
            <a:off x="7077456" y="3712464"/>
            <a:ext cx="4547311" cy="658368"/>
          </a:xfrm>
          <a:prstGeom prst="rect">
            <a:avLst/>
          </a:prstGeom>
          <a:noFill/>
          <a:ln/>
        </p:spPr>
        <p:txBody>
          <a:bodyPr wrap="square" lIns="0" tIns="0" rIns="0" bIns="0" rtlCol="0" anchor="t"/>
          <a:lstStyle/>
          <a:p>
            <a:pPr indent="0" marL="0">
              <a:lnSpc>
                <a:spcPts val="1900"/>
              </a:lnSpc>
              <a:buNone/>
            </a:pPr>
            <a:r>
              <a:rPr lang="en-US" sz="1350" dirty="0">
                <a:solidFill>
                  <a:srgbClr val="C3D0E4"/>
                </a:solidFill>
                <a:latin typeface="Calibri" pitchFamily="34" charset="0"/>
                <a:ea typeface="Calibri" pitchFamily="34" charset="-122"/>
                <a:cs typeface="Calibri" pitchFamily="34" charset="-120"/>
              </a:rPr>
              <a:t>Add a step that clears a CDN cache after upload</a:t>
            </a:r>
            <a:endParaRPr lang="en-US" sz="1350" dirty="0"/>
          </a:p>
        </p:txBody>
      </p:sp>
      <p:sp>
        <p:nvSpPr>
          <p:cNvPr id="12" name="Shape 10"/>
          <p:cNvSpPr/>
          <p:nvPr/>
        </p:nvSpPr>
        <p:spPr>
          <a:xfrm>
            <a:off x="6766560" y="4544568"/>
            <a:ext cx="137160" cy="137160"/>
          </a:xfrm>
          <a:prstGeom prst="ellipse">
            <a:avLst/>
          </a:prstGeom>
          <a:solidFill>
            <a:srgbClr val="1C7293"/>
          </a:solidFill>
          <a:ln/>
        </p:spPr>
      </p:sp>
      <p:sp>
        <p:nvSpPr>
          <p:cNvPr id="13" name="Text 11"/>
          <p:cNvSpPr/>
          <p:nvPr/>
        </p:nvSpPr>
        <p:spPr>
          <a:xfrm>
            <a:off x="7077456" y="4462272"/>
            <a:ext cx="4547311" cy="658368"/>
          </a:xfrm>
          <a:prstGeom prst="rect">
            <a:avLst/>
          </a:prstGeom>
          <a:noFill/>
          <a:ln/>
        </p:spPr>
        <p:txBody>
          <a:bodyPr wrap="square" lIns="0" tIns="0" rIns="0" bIns="0" rtlCol="0" anchor="t"/>
          <a:lstStyle/>
          <a:p>
            <a:pPr indent="0" marL="0">
              <a:lnSpc>
                <a:spcPts val="1900"/>
              </a:lnSpc>
              <a:buNone/>
            </a:pPr>
            <a:r>
              <a:rPr lang="en-US" sz="1350" dirty="0">
                <a:solidFill>
                  <a:srgbClr val="C3D0E4"/>
                </a:solidFill>
                <a:latin typeface="Calibri" pitchFamily="34" charset="0"/>
                <a:ea typeface="Calibri" pitchFamily="34" charset="-122"/>
                <a:cs typeface="Calibri" pitchFamily="34" charset="-120"/>
              </a:rPr>
              <a:t>Add a check that has to pass before the deploy runs</a:t>
            </a:r>
            <a:endParaRPr lang="en-US" sz="1350" dirty="0"/>
          </a:p>
        </p:txBody>
      </p:sp>
      <p:sp>
        <p:nvSpPr>
          <p:cNvPr id="14" name="Text 12"/>
          <p:cNvSpPr/>
          <p:nvPr/>
        </p:nvSpPr>
        <p:spPr>
          <a:xfrm>
            <a:off x="566928" y="5440680"/>
            <a:ext cx="11057839" cy="365760"/>
          </a:xfrm>
          <a:prstGeom prst="rect">
            <a:avLst/>
          </a:prstGeom>
          <a:noFill/>
          <a:ln/>
        </p:spPr>
        <p:txBody>
          <a:bodyPr wrap="square" lIns="0" tIns="0" rIns="0" bIns="0" rtlCol="0" anchor="ctr"/>
          <a:lstStyle/>
          <a:p>
            <a:pPr indent="0" marL="0">
              <a:buNone/>
            </a:pPr>
            <a:r>
              <a:rPr lang="en-US" sz="1400" b="1" dirty="0">
                <a:solidFill>
                  <a:srgbClr val="8290B8"/>
                </a:solidFill>
                <a:latin typeface="Calibri" pitchFamily="34" charset="0"/>
                <a:ea typeface="Calibri" pitchFamily="34" charset="-122"/>
                <a:cs typeface="Calibri" pitchFamily="34" charset="-120"/>
              </a:rPr>
              <a:t>The repository, the handout, and the workflow file are yours to keep.</a:t>
            </a:r>
            <a:endParaRPr lang="en-US" sz="1400" dirty="0"/>
          </a:p>
        </p:txBody>
      </p:sp>
      <p:sp>
        <p:nvSpPr>
          <p:cNvPr id="15" name="Text 13"/>
          <p:cNvSpPr/>
          <p:nvPr/>
        </p:nvSpPr>
        <p:spPr>
          <a:xfrm>
            <a:off x="566928" y="4206240"/>
            <a:ext cx="3657600" cy="548640"/>
          </a:xfrm>
          <a:prstGeom prst="rect">
            <a:avLst/>
          </a:prstGeom>
          <a:noFill/>
          <a:ln/>
        </p:spPr>
        <p:txBody>
          <a:bodyPr wrap="square" lIns="0" tIns="0" rIns="0" bIns="0" rtlCol="0" anchor="ctr"/>
          <a:lstStyle/>
          <a:p>
            <a:pPr indent="0" marL="0">
              <a:buNone/>
            </a:pPr>
            <a:r>
              <a:rPr lang="en-US" sz="2600" b="1" dirty="0">
                <a:solidFill>
                  <a:srgbClr val="FFB627"/>
                </a:solidFill>
                <a:latin typeface="Cambria" pitchFamily="34" charset="0"/>
                <a:ea typeface="Cambria" pitchFamily="34" charset="-122"/>
                <a:cs typeface="Cambria" pitchFamily="34" charset="-120"/>
              </a:rPr>
              <a:t>Questions</a:t>
            </a:r>
            <a:endParaRPr lang="en-US" sz="2600" dirty="0"/>
          </a:p>
        </p:txBody>
      </p:sp>
      <p:sp>
        <p:nvSpPr>
          <p:cNvPr id="16" name="Text 14"/>
          <p:cNvSpPr/>
          <p:nvPr/>
        </p:nvSpPr>
        <p:spPr>
          <a:xfrm>
            <a:off x="566928" y="6327648"/>
            <a:ext cx="11057839" cy="274320"/>
          </a:xfrm>
          <a:prstGeom prst="rect">
            <a:avLst/>
          </a:prstGeom>
          <a:noFill/>
          <a:ln/>
        </p:spPr>
        <p:txBody>
          <a:bodyPr wrap="square" lIns="0" tIns="0" rIns="0" bIns="0" rtlCol="0" anchor="ctr"/>
          <a:lstStyle/>
          <a:p>
            <a:pPr algn="r" indent="0" marL="0">
              <a:buNone/>
            </a:pPr>
            <a:r>
              <a:rPr lang="en-US" sz="1000" dirty="0">
                <a:solidFill>
                  <a:srgbClr val="8290B8"/>
                </a:solidFill>
                <a:latin typeface="Calibri" pitchFamily="34" charset="0"/>
                <a:ea typeface="Calibri" pitchFamily="34" charset="-122"/>
                <a:cs typeface="Calibri" pitchFamily="34" charset="-120"/>
              </a:rPr>
              <a:t>GitHub Actions → Azure Storage</a:t>
            </a:r>
            <a:pPr algn="r" indent="0" marL="0">
              <a:buNone/>
            </a:pPr>
            <a:r>
              <a:rPr lang="en-US" sz="1000" b="1" dirty="0">
                <a:solidFill>
                  <a:srgbClr val="FFB627"/>
                </a:solidFill>
                <a:latin typeface="Calibri" pitchFamily="34" charset="0"/>
                <a:ea typeface="Calibri" pitchFamily="34" charset="-122"/>
                <a:cs typeface="Calibri" pitchFamily="34" charset="-120"/>
              </a:rPr>
              <a:t>     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folder to a live website</dc:title>
  <dc:subject>PptxGenJS Presentation</dc:subject>
  <dc:creator>Amaxst</dc:creator>
  <cp:lastModifiedBy>Amaxst</cp:lastModifiedBy>
  <cp:revision>1</cp:revision>
  <dcterms:created xsi:type="dcterms:W3CDTF">2026-08-05T15:06:25Z</dcterms:created>
  <dcterms:modified xsi:type="dcterms:W3CDTF">2026-08-05T15:06:25Z</dcterms:modified>
</cp:coreProperties>
</file>